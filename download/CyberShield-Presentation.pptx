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1631761892-oon4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00375"/>
            <a:ext cx="9144000" cy="21431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14350" y="460772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2DD4BF"/>
          </a:solidFill>
          <a:ln/>
          <a:effectLst>
            <a:outerShdw sx="100000" sy="100000" kx="0" ky="0" algn="bl" rotWithShape="0" blurRad="133350" dist="50800" dir="16200000">
              <a:srgbClr val="2DD4BF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92944" y="428625"/>
            <a:ext cx="41103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THREAT INTELLIGENCE // MISSION WALL</a:t>
            </a:r>
            <a:endParaRPr lang="en-US" sz="8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023" y="489347"/>
            <a:ext cx="4660627" cy="714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14350" y="1463687"/>
            <a:ext cx="8629650" cy="1070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03"/>
              </a:lnSpc>
              <a:buNone/>
            </a:pPr>
            <a:r>
              <a:rPr lang="en-US" sz="7650" b="1" spc="-214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Cyber</a:t>
            </a:r>
            <a:pPr algn="l" indent="0" marL="0">
              <a:lnSpc>
                <a:spcPts val="7803"/>
              </a:lnSpc>
              <a:buNone/>
            </a:pPr>
            <a:r>
              <a:rPr lang="en-US" sz="7650" b="1" spc="-214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Shield</a:t>
            </a:r>
            <a:endParaRPr lang="en-US" sz="765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626109"/>
            <a:ext cx="1700213" cy="4286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514350" y="2854709"/>
            <a:ext cx="5214938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CFE0D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cyber threat intelligence — aggregated, scored and explained as it happens.</a:t>
            </a:r>
            <a:endParaRPr lang="en-US" sz="1181" dirty="0"/>
          </a:p>
        </p:txBody>
      </p:sp>
      <p:sp>
        <p:nvSpPr>
          <p:cNvPr id="11" name="Text 4"/>
          <p:cNvSpPr/>
          <p:nvPr/>
        </p:nvSpPr>
        <p:spPr>
          <a:xfrm>
            <a:off x="514350" y="4296966"/>
            <a:ext cx="1240334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endParaRPr lang="en-US" sz="2250" dirty="0"/>
          </a:p>
        </p:txBody>
      </p:sp>
      <p:sp>
        <p:nvSpPr>
          <p:cNvPr id="12" name="Text 5"/>
          <p:cNvSpPr/>
          <p:nvPr/>
        </p:nvSpPr>
        <p:spPr>
          <a:xfrm>
            <a:off x="514350" y="4654153"/>
            <a:ext cx="10404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A9BD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SOURCES</a:t>
            </a:r>
            <a:endParaRPr lang="en-US" sz="800" dirty="0"/>
          </a:p>
        </p:txBody>
      </p:sp>
      <p:sp>
        <p:nvSpPr>
          <p:cNvPr id="13" name="Text 6"/>
          <p:cNvSpPr/>
          <p:nvPr/>
        </p:nvSpPr>
        <p:spPr>
          <a:xfrm>
            <a:off x="1561021" y="4386263"/>
            <a:ext cx="7144" cy="385763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1839627" y="4296966"/>
            <a:ext cx="1757184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2250" dirty="0"/>
          </a:p>
        </p:txBody>
      </p:sp>
      <p:sp>
        <p:nvSpPr>
          <p:cNvPr id="15" name="Text 8"/>
          <p:cNvSpPr/>
          <p:nvPr/>
        </p:nvSpPr>
        <p:spPr>
          <a:xfrm>
            <a:off x="1839627" y="4654153"/>
            <a:ext cx="14740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A9BD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CATEGORIES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3209330" y="4386263"/>
            <a:ext cx="7144" cy="385763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/>
        </p:nvSpPr>
        <p:spPr>
          <a:xfrm>
            <a:off x="3487936" y="4296966"/>
            <a:ext cx="13592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MIN</a:t>
            </a:r>
            <a:endParaRPr lang="en-US" sz="2250" dirty="0"/>
          </a:p>
        </p:txBody>
      </p:sp>
      <p:sp>
        <p:nvSpPr>
          <p:cNvPr id="18" name="Text 11"/>
          <p:cNvSpPr/>
          <p:nvPr/>
        </p:nvSpPr>
        <p:spPr>
          <a:xfrm>
            <a:off x="3487936" y="4654153"/>
            <a:ext cx="11546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A9BD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REFRESH</a:t>
            </a:r>
            <a:endParaRPr lang="en-US" sz="800" dirty="0"/>
          </a:p>
        </p:txBody>
      </p:sp>
      <p:sp>
        <p:nvSpPr>
          <p:cNvPr id="19" name="Text 12"/>
          <p:cNvSpPr/>
          <p:nvPr/>
        </p:nvSpPr>
        <p:spPr>
          <a:xfrm>
            <a:off x="6565218" y="4500563"/>
            <a:ext cx="2060860" cy="267891"/>
          </a:xfrm>
          <a:prstGeom prst="roundRect">
            <a:avLst>
              <a:gd name="adj" fmla="val 35551950"/>
            </a:avLst>
          </a:prstGeom>
          <a:solidFill>
            <a:srgbClr val="05080D">
              <a:alpha val="65000"/>
            </a:srgbClr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6561646" y="4496991"/>
            <a:ext cx="2068004" cy="384048"/>
          </a:xfrm>
          <a:prstGeom prst="rect">
            <a:avLst/>
          </a:prstGeom>
          <a:noFill/>
          <a:ln/>
        </p:spPr>
        <p:txBody>
          <a:bodyPr wrap="square" lIns="128588" tIns="71438" rIns="128588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B7C9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SELF-HOSTED // FREE-HOST READY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42913"/>
            <a:ext cx="11003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151" y="503634"/>
            <a:ext cx="7210499" cy="7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785813"/>
            <a:ext cx="7572375" cy="102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19"/>
              </a:lnSpc>
              <a:buNone/>
            </a:pPr>
            <a:r>
              <a:rPr lang="en-US" sz="3263" b="1" spc="-59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live wall</a:t>
            </a:r>
            <a:pPr algn="l" indent="0" marL="0">
              <a:lnSpc>
                <a:spcPts val="3719"/>
              </a:lnSpc>
              <a:buNone/>
            </a:pPr>
            <a:r>
              <a:rPr lang="en-US" sz="3263" b="1" spc="-59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the world’s cybersecurity reporting.</a:t>
            </a:r>
            <a:endParaRPr lang="en-US" sz="3263" dirty="0"/>
          </a:p>
        </p:txBody>
      </p:sp>
      <p:sp>
        <p:nvSpPr>
          <p:cNvPr id="5" name="Text 2"/>
          <p:cNvSpPr/>
          <p:nvPr/>
        </p:nvSpPr>
        <p:spPr>
          <a:xfrm>
            <a:off x="514350" y="1901800"/>
            <a:ext cx="7679531" cy="68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40"/>
              </a:lnSpc>
              <a:buNone/>
            </a:pPr>
            <a:r>
              <a:rPr lang="en-US" sz="1013" dirty="0">
                <a:solidFill>
                  <a:srgbClr val="B7C9C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CyberShield is a self-hosted threat-intelligence dashboard. It pulls cybersecurity news from </a:t>
            </a:r>
            <a:pPr algn="l" indent="0" marL="0">
              <a:lnSpc>
                <a:spcPts val="1640"/>
              </a:lnSpc>
              <a:buNone/>
            </a:pPr>
            <a:r>
              <a:rPr lang="en-US" sz="1013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pPr algn="l" indent="0" marL="0">
              <a:lnSpc>
                <a:spcPts val="1640"/>
              </a:lnSpc>
              <a:buNone/>
            </a:pPr>
            <a:r>
              <a:rPr lang="en-US" sz="1013" dirty="0">
                <a:solidFill>
                  <a:srgbClr val="B7C9C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trusted research streams into a single real-time feed — automatically scoring every story for severity, classifying it into threat categories, and explaining what it means on demand with an AI analyst verdict.</a:t>
            </a:r>
            <a:endParaRPr lang="en-US" sz="1013" dirty="0"/>
          </a:p>
        </p:txBody>
      </p:sp>
      <p:sp>
        <p:nvSpPr>
          <p:cNvPr id="6" name="Text 3"/>
          <p:cNvSpPr/>
          <p:nvPr/>
        </p:nvSpPr>
        <p:spPr>
          <a:xfrm>
            <a:off x="517922" y="2794546"/>
            <a:ext cx="2583582" cy="1045666"/>
          </a:xfrm>
          <a:prstGeom prst="roundRect">
            <a:avLst>
              <a:gd name="adj" fmla="val 12753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96516" y="2958852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36163" y="29985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9" name="Text 6"/>
          <p:cNvSpPr/>
          <p:nvPr/>
        </p:nvSpPr>
        <p:spPr>
          <a:xfrm>
            <a:off x="1107281" y="3042791"/>
            <a:ext cx="18192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AGGREGATOR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3369618"/>
            <a:ext cx="22335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 streams, one deduplicated wall, refreshed every 4 minutes.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280097" y="2794546"/>
            <a:ext cx="2583693" cy="1045666"/>
          </a:xfrm>
          <a:prstGeom prst="roundRect">
            <a:avLst>
              <a:gd name="adj" fmla="val 12753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58691" y="2958852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98339" y="29985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3869457" y="3042791"/>
            <a:ext cx="18193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55119" y="3369618"/>
            <a:ext cx="2233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verdicts in SOC format: threat class, severity, immediate actions.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042385" y="2794546"/>
            <a:ext cx="2583582" cy="1045666"/>
          </a:xfrm>
          <a:prstGeom prst="roundRect">
            <a:avLst>
              <a:gd name="adj" fmla="val 12753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220978" y="2958852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260626" y="29985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9" name="Text 16"/>
          <p:cNvSpPr/>
          <p:nvPr/>
        </p:nvSpPr>
        <p:spPr>
          <a:xfrm>
            <a:off x="6631744" y="3042791"/>
            <a:ext cx="18192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AWARENESS LAYER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17407" y="3369618"/>
            <a:ext cx="223353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 scanner or firewall — it keeps you informed, not the network patched.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4350" y="467379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055" dirty="0"/>
          </a:p>
        </p:txBody>
      </p:sp>
      <p:sp>
        <p:nvSpPr>
          <p:cNvPr id="22" name="Text 19"/>
          <p:cNvSpPr/>
          <p:nvPr/>
        </p:nvSpPr>
        <p:spPr>
          <a:xfrm>
            <a:off x="692944" y="4668441"/>
            <a:ext cx="79367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ON A FREE HOSTING TIER — NO PAID SERVICES REQUIRED.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4338"/>
            <a:ext cx="14303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EXISTS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9084" y="475059"/>
            <a:ext cx="7087716" cy="7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2938"/>
            <a:ext cx="863600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b="1" spc="-35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Threat intel is scattered. </a:t>
            </a:r>
            <a:pPr algn="l" indent="0" marL="0">
              <a:lnSpc>
                <a:spcPts val="2599"/>
              </a:lnSpc>
              <a:buNone/>
            </a:pPr>
            <a:r>
              <a:rPr lang="en-US" sz="2363" b="1" spc="-35" kern="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Decisions are slow.</a:t>
            </a:r>
            <a:endParaRPr lang="en-US" sz="2363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2914"/>
            <a:ext cx="4007644" cy="35848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0772" y="1176486"/>
            <a:ext cx="4000500" cy="3577679"/>
          </a:xfrm>
          <a:prstGeom prst="roundRect">
            <a:avLst>
              <a:gd name="adj" fmla="val 3727"/>
            </a:avLst>
          </a:prstGeom>
          <a:noFill/>
          <a:ln w="7144">
            <a:solidFill>
              <a:srgbClr val="F8717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664369" y="1612255"/>
            <a:ext cx="3593306" cy="0"/>
          </a:xfrm>
          <a:prstGeom prst="line">
            <a:avLst/>
          </a:prstGeom>
          <a:noFill/>
          <a:ln w="7144">
            <a:solidFill>
              <a:srgbClr val="F8717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4369" y="13515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9" name="Text 5"/>
          <p:cNvSpPr/>
          <p:nvPr/>
        </p:nvSpPr>
        <p:spPr>
          <a:xfrm>
            <a:off x="892969" y="1353294"/>
            <a:ext cx="336470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46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CYBERSHIELD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64369" y="2354870"/>
            <a:ext cx="3593306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4858" y="191921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87171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81918" y="1817415"/>
            <a:ext cx="3375757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Reporting scattered across dozens of blogs, vendor advisories and government feeds</a:t>
            </a:r>
            <a:endParaRPr lang="en-US" sz="872" dirty="0"/>
          </a:p>
        </p:txBody>
      </p:sp>
      <p:sp>
        <p:nvSpPr>
          <p:cNvPr id="13" name="Shape 9"/>
          <p:cNvSpPr/>
          <p:nvPr/>
        </p:nvSpPr>
        <p:spPr>
          <a:xfrm>
            <a:off x="664369" y="3097485"/>
            <a:ext cx="3593306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4858" y="266182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87171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81918" y="2643076"/>
            <a:ext cx="337575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 means opening 10+ tabs every morning</a:t>
            </a:r>
            <a:endParaRPr lang="en-US" sz="872" dirty="0"/>
          </a:p>
        </p:txBody>
      </p:sp>
      <p:sp>
        <p:nvSpPr>
          <p:cNvPr id="16" name="Shape 12"/>
          <p:cNvSpPr/>
          <p:nvPr/>
        </p:nvSpPr>
        <p:spPr>
          <a:xfrm>
            <a:off x="664369" y="3840100"/>
            <a:ext cx="3593306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4858" y="340444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87171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81918" y="3385691"/>
            <a:ext cx="337575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Severity is guesswork — a scary headline is not a severity score</a:t>
            </a:r>
            <a:endParaRPr lang="en-US" sz="872" dirty="0"/>
          </a:p>
        </p:txBody>
      </p:sp>
      <p:sp>
        <p:nvSpPr>
          <p:cNvPr id="19" name="Text 15"/>
          <p:cNvSpPr/>
          <p:nvPr/>
        </p:nvSpPr>
        <p:spPr>
          <a:xfrm>
            <a:off x="654858" y="414705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87171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881918" y="4128306"/>
            <a:ext cx="337575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Non-specialists freeze at jargon and CVE soup.</a:t>
            </a:r>
            <a:endParaRPr lang="en-US" sz="872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1172914"/>
            <a:ext cx="4007644" cy="358482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82728" y="1176486"/>
            <a:ext cx="4000500" cy="3577679"/>
          </a:xfrm>
          <a:prstGeom prst="roundRect">
            <a:avLst>
              <a:gd name="adj" fmla="val 3727"/>
            </a:avLst>
          </a:prstGeom>
          <a:noFill/>
          <a:ln w="7144">
            <a:solidFill>
              <a:srgbClr val="2DD4BF"/>
            </a:solidFill>
            <a:prstDash val="solid"/>
          </a:ln>
          <a:effectLst>
            <a:outerShdw sx="100000" sy="100000" kx="0" ky="0" algn="bl" rotWithShape="0" blurRad="323850" dist="50800" dir="16200000">
              <a:srgbClr val="2DD4BF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4886325" y="1612255"/>
            <a:ext cx="3593306" cy="0"/>
          </a:xfrm>
          <a:prstGeom prst="line">
            <a:avLst/>
          </a:prstGeom>
          <a:noFill/>
          <a:ln w="7144">
            <a:solidFill>
              <a:srgbClr val="2DD4B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886325" y="135150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5" name="Text 20"/>
          <p:cNvSpPr/>
          <p:nvPr/>
        </p:nvSpPr>
        <p:spPr>
          <a:xfrm>
            <a:off x="5114925" y="1353294"/>
            <a:ext cx="3364706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46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CYBERSHIELD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886325" y="2354870"/>
            <a:ext cx="3593306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876814" y="191921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103875" y="1900461"/>
            <a:ext cx="337575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wall: 19 streams merged, deduplicated and cached</a:t>
            </a:r>
            <a:endParaRPr lang="en-US" sz="872" dirty="0"/>
          </a:p>
        </p:txBody>
      </p:sp>
      <p:sp>
        <p:nvSpPr>
          <p:cNvPr id="29" name="Shape 24"/>
          <p:cNvSpPr/>
          <p:nvPr/>
        </p:nvSpPr>
        <p:spPr>
          <a:xfrm>
            <a:off x="4886325" y="3097485"/>
            <a:ext cx="3593306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876814" y="266182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5103875" y="2560030"/>
            <a:ext cx="3375757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Machine-speed scoring: every story rated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ELEVATED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MODERATE</a:t>
            </a:r>
            <a:endParaRPr lang="en-US" sz="872" dirty="0"/>
          </a:p>
        </p:txBody>
      </p:sp>
      <p:sp>
        <p:nvSpPr>
          <p:cNvPr id="32" name="Shape 27"/>
          <p:cNvSpPr/>
          <p:nvPr/>
        </p:nvSpPr>
        <p:spPr>
          <a:xfrm>
            <a:off x="4886325" y="3840100"/>
            <a:ext cx="3593306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876814" y="3404443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5103875" y="3385691"/>
            <a:ext cx="337575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 threat categories for instant triage</a:t>
            </a:r>
            <a:endParaRPr lang="en-US" sz="872" dirty="0"/>
          </a:p>
        </p:txBody>
      </p:sp>
      <p:sp>
        <p:nvSpPr>
          <p:cNvPr id="35" name="Text 30"/>
          <p:cNvSpPr/>
          <p:nvPr/>
        </p:nvSpPr>
        <p:spPr>
          <a:xfrm>
            <a:off x="4876814" y="4147058"/>
            <a:ext cx="184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2DD4BF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5103875" y="4045260"/>
            <a:ext cx="3375757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CCD9D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Plain-language AI verdict tells you what happened, why it matters, what to do.</a:t>
            </a:r>
            <a:endParaRPr lang="en-US" sz="872" dirty="0"/>
          </a:p>
        </p:txBody>
      </p:sp>
      <p:sp>
        <p:nvSpPr>
          <p:cNvPr id="37" name="Text 32"/>
          <p:cNvSpPr/>
          <p:nvPr/>
        </p:nvSpPr>
        <p:spPr>
          <a:xfrm>
            <a:off x="4404122" y="2797448"/>
            <a:ext cx="335756" cy="335756"/>
          </a:xfrm>
          <a:prstGeom prst="roundRect">
            <a:avLst>
              <a:gd name="adj" fmla="val 28365979"/>
            </a:avLst>
          </a:prstGeom>
          <a:solidFill>
            <a:srgbClr val="05080D"/>
          </a:solidFill>
          <a:ln w="7144">
            <a:solidFill>
              <a:srgbClr val="2DD4BF"/>
            </a:solidFill>
            <a:prstDash val="solid"/>
          </a:ln>
          <a:effectLst>
            <a:outerShdw sx="100000" sy="100000" kx="0" ky="0" algn="bl" rotWithShape="0" blurRad="247650" dist="50800" dir="16200000">
              <a:srgbClr val="2DD4BF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4468416" y="286174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414338"/>
            <a:ext cx="1320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481" y="475059"/>
            <a:ext cx="7223894" cy="7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625" y="642938"/>
            <a:ext cx="8636000" cy="30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b="1" spc="-35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raw feeds to decisions in </a:t>
            </a:r>
            <a:pPr algn="l" indent="0" marL="0">
              <a:lnSpc>
                <a:spcPts val="2599"/>
              </a:lnSpc>
              <a:buNone/>
            </a:pPr>
            <a:r>
              <a:rPr lang="en-US" sz="2363" b="1" spc="-35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stages.</a:t>
            </a:r>
            <a:endParaRPr lang="en-US" sz="2363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562472"/>
            <a:ext cx="1463018" cy="22717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197" y="1566044"/>
            <a:ext cx="1455874" cy="2264569"/>
          </a:xfrm>
          <a:prstGeom prst="roundRect">
            <a:avLst>
              <a:gd name="adj" fmla="val 9159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67401" y="1714777"/>
            <a:ext cx="303547" cy="224028"/>
          </a:xfrm>
          <a:prstGeom prst="roundRect">
            <a:avLst>
              <a:gd name="adj" fmla="val 25510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78644" y="1726778"/>
            <a:ext cx="2810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8644" y="2026816"/>
            <a:ext cx="116298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AGGREGATE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578644" y="2312566"/>
            <a:ext cx="1232759" cy="69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Fetches 19 XML streams directly; public-converter relay is the automatic fallback.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895215" y="2580456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530" y="1562472"/>
            <a:ext cx="1463129" cy="22717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38102" y="1566044"/>
            <a:ext cx="1455986" cy="2264569"/>
          </a:xfrm>
          <a:prstGeom prst="roundRect">
            <a:avLst>
              <a:gd name="adj" fmla="val 9159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2273306" y="1714777"/>
            <a:ext cx="303547" cy="224028"/>
          </a:xfrm>
          <a:prstGeom prst="roundRect">
            <a:avLst>
              <a:gd name="adj" fmla="val 25510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2284549" y="1726778"/>
            <a:ext cx="2810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284549" y="2026816"/>
            <a:ext cx="116309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DISTILL</a:t>
            </a:r>
            <a:endParaRPr lang="en-US" sz="1125" dirty="0"/>
          </a:p>
        </p:txBody>
      </p:sp>
      <p:sp>
        <p:nvSpPr>
          <p:cNvPr id="17" name="Text 12"/>
          <p:cNvSpPr/>
          <p:nvPr/>
        </p:nvSpPr>
        <p:spPr>
          <a:xfrm>
            <a:off x="2284549" y="2312566"/>
            <a:ext cx="1232877" cy="51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Deduplicates stories, picks the best thumbnail, distills an analyst lede.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601231" y="2580456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547" y="1562472"/>
            <a:ext cx="1463018" cy="22717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44119" y="1566044"/>
            <a:ext cx="1455874" cy="2264569"/>
          </a:xfrm>
          <a:prstGeom prst="roundRect">
            <a:avLst>
              <a:gd name="adj" fmla="val 9159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5"/>
          <p:cNvSpPr/>
          <p:nvPr/>
        </p:nvSpPr>
        <p:spPr>
          <a:xfrm>
            <a:off x="3979323" y="1714777"/>
            <a:ext cx="303547" cy="224028"/>
          </a:xfrm>
          <a:prstGeom prst="roundRect">
            <a:avLst>
              <a:gd name="adj" fmla="val 25510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990566" y="1726778"/>
            <a:ext cx="2810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990566" y="2026816"/>
            <a:ext cx="116298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SCORE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3990566" y="2312566"/>
            <a:ext cx="1232759" cy="69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Keyword-and-signal engine rates every story </a:t>
            </a:r>
            <a:pPr algn="l" indent="0" marL="0">
              <a:lnSpc>
                <a:spcPts val="1155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55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55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55"/>
              </a:lnSpc>
              <a:buNone/>
            </a:pPr>
            <a:r>
              <a:rPr lang="en-US" sz="800" b="1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MODERATE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with a 0-100 score.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307137" y="2580456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6452" y="1562472"/>
            <a:ext cx="1463018" cy="22717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0024" y="1566044"/>
            <a:ext cx="1455874" cy="2264569"/>
          </a:xfrm>
          <a:prstGeom prst="roundRect">
            <a:avLst>
              <a:gd name="adj" fmla="val 9159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5685228" y="1714777"/>
            <a:ext cx="303547" cy="224028"/>
          </a:xfrm>
          <a:prstGeom prst="roundRect">
            <a:avLst>
              <a:gd name="adj" fmla="val 25510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5696471" y="1726778"/>
            <a:ext cx="2810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5696471" y="2026816"/>
            <a:ext cx="116298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CLASSIFY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5696471" y="2312566"/>
            <a:ext cx="1232759" cy="51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Sorts stories into 10 threat categories from Ransomware to AI Security.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7013042" y="2580456"/>
            <a:ext cx="2357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357" y="1562472"/>
            <a:ext cx="1463018" cy="227171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55929" y="1566044"/>
            <a:ext cx="1455874" cy="2264569"/>
          </a:xfrm>
          <a:prstGeom prst="roundRect">
            <a:avLst>
              <a:gd name="adj" fmla="val 9159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7"/>
          <p:cNvSpPr/>
          <p:nvPr/>
        </p:nvSpPr>
        <p:spPr>
          <a:xfrm>
            <a:off x="7391134" y="1714777"/>
            <a:ext cx="303547" cy="224028"/>
          </a:xfrm>
          <a:prstGeom prst="roundRect">
            <a:avLst>
              <a:gd name="adj" fmla="val 25510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7402376" y="1726778"/>
            <a:ext cx="2810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7402376" y="2026816"/>
            <a:ext cx="116298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</a:t>
            </a:r>
            <a:endParaRPr lang="en-US" sz="1125" dirty="0"/>
          </a:p>
        </p:txBody>
      </p:sp>
      <p:sp>
        <p:nvSpPr>
          <p:cNvPr id="38" name="Text 30"/>
          <p:cNvSpPr/>
          <p:nvPr/>
        </p:nvSpPr>
        <p:spPr>
          <a:xfrm>
            <a:off x="7402376" y="2312566"/>
            <a:ext cx="1232759" cy="866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BDB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Caches the snapshot: 4-minute fresh window, 30-minute stale-safe serve while a background refresh runs.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432197" y="4427339"/>
            <a:ext cx="8279606" cy="355402"/>
          </a:xfrm>
          <a:prstGeom prst="roundRect">
            <a:avLst>
              <a:gd name="adj" fmla="val 32161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1666726" y="454431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95" dirty="0"/>
          </a:p>
        </p:txBody>
      </p:sp>
      <p:sp>
        <p:nvSpPr>
          <p:cNvPr id="41" name="Text 33"/>
          <p:cNvSpPr/>
          <p:nvPr/>
        </p:nvSpPr>
        <p:spPr>
          <a:xfrm>
            <a:off x="1873895" y="4538067"/>
            <a:ext cx="6662886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56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algn="l" indent="0" marL="0">
              <a:lnSpc>
                <a:spcPts val="1055"/>
              </a:lnSpc>
              <a:buNone/>
            </a:pPr>
            <a:r>
              <a:rPr lang="en-US" sz="800" spc="56" kern="0" dirty="0">
                <a:solidFill>
                  <a:srgbClr val="B7C9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NEXT.JS APP ROUTER · PRISMA + SQLITE CACHE · 5 API ENDPOINTS · ZERO DATABASE SERVERS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16505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16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FEATURE 01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251" y="460772"/>
            <a:ext cx="6929549" cy="7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14363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34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stream that matters, </a:t>
            </a:r>
            <a:pPr algn="l" indent="0" marL="0">
              <a:lnSpc>
                <a:spcPts val="2475"/>
              </a:lnSpc>
              <a:buNone/>
            </a:pPr>
            <a:r>
              <a:rPr lang="en-US" sz="2250" b="1" spc="-34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one wall.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57200" y="1000125"/>
            <a:ext cx="8001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B7C9C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aggregation engine monitors 19 research streams — direct XML first, with a public-converter relay as automatic fallback so a blocked host never blanks the wall.</a:t>
            </a:r>
            <a:endParaRPr lang="en-US" sz="872" dirty="0"/>
          </a:p>
        </p:txBody>
      </p:sp>
      <p:sp>
        <p:nvSpPr>
          <p:cNvPr id="6" name="Text 3"/>
          <p:cNvSpPr/>
          <p:nvPr/>
        </p:nvSpPr>
        <p:spPr>
          <a:xfrm>
            <a:off x="460772" y="14787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57213" y="1544479"/>
            <a:ext cx="267891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7213" y="1554659"/>
            <a:ext cx="26789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96541" y="1569839"/>
            <a:ext cx="2146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BleepingComputer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32547" y="14787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328988" y="1544479"/>
            <a:ext cx="267891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328988" y="1554659"/>
            <a:ext cx="26789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68316" y="1569839"/>
            <a:ext cx="2146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Hacker News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04322" y="14787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100763" y="1544479"/>
            <a:ext cx="370136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82224" y="1554659"/>
            <a:ext cx="40721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TPOST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42336" y="1569839"/>
            <a:ext cx="20444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Threatpost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0772" y="18788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57213" y="1944529"/>
            <a:ext cx="370136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8674" y="1954709"/>
            <a:ext cx="40721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KREBS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98786" y="1969889"/>
            <a:ext cx="20444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Krebs on Security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232547" y="18788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328988" y="1944529"/>
            <a:ext cx="370136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310449" y="1954709"/>
            <a:ext cx="40721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SECWK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770561" y="1969889"/>
            <a:ext cx="20444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SecurityWeek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004322" y="18788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100763" y="1944529"/>
            <a:ext cx="267891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100763" y="1954709"/>
            <a:ext cx="26789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HNS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440091" y="1969889"/>
            <a:ext cx="2146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 Net Security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0772" y="22788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57213" y="2344579"/>
            <a:ext cx="472492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15522" y="2354759"/>
            <a:ext cx="55587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INFOMAG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101142" y="2369939"/>
            <a:ext cx="194209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Infosecurity Magazine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232547" y="22788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3328988" y="2344579"/>
            <a:ext cx="370136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310449" y="2354759"/>
            <a:ext cx="40721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770561" y="2369939"/>
            <a:ext cx="20444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CyberScoop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004322" y="22788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100763" y="2344579"/>
            <a:ext cx="421370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070676" y="2354759"/>
            <a:ext cx="48154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593570" y="2369939"/>
            <a:ext cx="1993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Record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60772" y="26789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57213" y="2744629"/>
            <a:ext cx="421370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7126" y="2754809"/>
            <a:ext cx="48154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CLULEY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50020" y="2769989"/>
            <a:ext cx="1993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Graham Cluley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232547" y="26789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3328988" y="2744629"/>
            <a:ext cx="421370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3316884" y="2754809"/>
            <a:ext cx="44557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MBLabs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3821795" y="2769989"/>
            <a:ext cx="1993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Malwarebytes Labs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004322" y="26789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6100763" y="2744629"/>
            <a:ext cx="421370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070676" y="2754809"/>
            <a:ext cx="48154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SECLST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593570" y="2769989"/>
            <a:ext cx="19932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Securelist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60772" y="30789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557213" y="3144679"/>
            <a:ext cx="267891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57213" y="3154859"/>
            <a:ext cx="26789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U42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896541" y="3170039"/>
            <a:ext cx="2146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Unit 42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32547" y="30789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3328988" y="3144679"/>
            <a:ext cx="319013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3322053" y="3154859"/>
            <a:ext cx="33288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MSFT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3719438" y="3170039"/>
            <a:ext cx="20955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Security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6004322" y="307895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6100763" y="3144679"/>
            <a:ext cx="216657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6100763" y="3154859"/>
            <a:ext cx="21665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S1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6388857" y="3170039"/>
            <a:ext cx="21979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SentinelOne Labs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460772" y="34790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557213" y="3544729"/>
            <a:ext cx="523615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503918" y="3554909"/>
            <a:ext cx="63020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SCHNEIER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152265" y="3570089"/>
            <a:ext cx="18909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Schneier on Security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3232547" y="34790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3328988" y="3544729"/>
            <a:ext cx="267891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3328988" y="3554909"/>
            <a:ext cx="26789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3668316" y="3570089"/>
            <a:ext cx="2146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Ars Technica Security</a:t>
            </a:r>
            <a:endParaRPr lang="en-US" sz="800" dirty="0"/>
          </a:p>
        </p:txBody>
      </p:sp>
      <p:sp>
        <p:nvSpPr>
          <p:cNvPr id="74" name="Text 71"/>
          <p:cNvSpPr/>
          <p:nvPr/>
        </p:nvSpPr>
        <p:spPr>
          <a:xfrm>
            <a:off x="6004322" y="3479006"/>
            <a:ext cx="2678906" cy="321469"/>
          </a:xfrm>
          <a:prstGeom prst="roundRect">
            <a:avLst>
              <a:gd name="adj" fmla="val 29630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2"/>
          <p:cNvSpPr/>
          <p:nvPr/>
        </p:nvSpPr>
        <p:spPr>
          <a:xfrm>
            <a:off x="6100763" y="3544729"/>
            <a:ext cx="267891" cy="190024"/>
          </a:xfrm>
          <a:prstGeom prst="roundRect">
            <a:avLst>
              <a:gd name="adj" fmla="val 30075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100763" y="3554909"/>
            <a:ext cx="26789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ZDI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6440091" y="3570089"/>
            <a:ext cx="21466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Day Initiative</a:t>
            </a:r>
            <a:endParaRPr lang="en-US" sz="800" dirty="0"/>
          </a:p>
        </p:txBody>
      </p:sp>
      <p:pic>
        <p:nvPicPr>
          <p:cNvPr id="7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75484"/>
            <a:ext cx="8229600" cy="328613"/>
          </a:xfrm>
          <a:prstGeom prst="rect">
            <a:avLst/>
          </a:prstGeom>
        </p:spPr>
      </p:pic>
      <p:sp>
        <p:nvSpPr>
          <p:cNvPr id="79" name="Text 75"/>
          <p:cNvSpPr/>
          <p:nvPr/>
        </p:nvSpPr>
        <p:spPr>
          <a:xfrm>
            <a:off x="460772" y="3879056"/>
            <a:ext cx="8222456" cy="321469"/>
          </a:xfrm>
          <a:prstGeom prst="roundRect">
            <a:avLst>
              <a:gd name="adj" fmla="val 29630"/>
            </a:avLst>
          </a:prstGeom>
          <a:noFill/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564356" y="3944779"/>
            <a:ext cx="319013" cy="190024"/>
          </a:xfrm>
          <a:prstGeom prst="roundRect">
            <a:avLst>
              <a:gd name="adj" fmla="val 30075"/>
            </a:avLst>
          </a:prstGeom>
          <a:solidFill>
            <a:srgbClr val="F59E0B">
              <a:alpha val="12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7"/>
          <p:cNvSpPr/>
          <p:nvPr/>
        </p:nvSpPr>
        <p:spPr>
          <a:xfrm>
            <a:off x="557422" y="3954959"/>
            <a:ext cx="33288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b="1" spc="47" kern="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CISA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954807" y="3970139"/>
            <a:ext cx="825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DCE8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CISA Advisories</a:t>
            </a:r>
            <a:endParaRPr lang="en-US" sz="731" dirty="0"/>
          </a:p>
        </p:txBody>
      </p:sp>
      <p:sp>
        <p:nvSpPr>
          <p:cNvPr id="83" name="Text 79"/>
          <p:cNvSpPr/>
          <p:nvPr/>
        </p:nvSpPr>
        <p:spPr>
          <a:xfrm>
            <a:off x="8458200" y="397906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195" dirty="0"/>
          </a:p>
        </p:txBody>
      </p:sp>
      <p:sp>
        <p:nvSpPr>
          <p:cNvPr id="84" name="Shape 80"/>
          <p:cNvSpPr/>
          <p:nvPr/>
        </p:nvSpPr>
        <p:spPr>
          <a:xfrm>
            <a:off x="457200" y="4568428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85" name="Text 81"/>
          <p:cNvSpPr/>
          <p:nvPr/>
        </p:nvSpPr>
        <p:spPr>
          <a:xfrm>
            <a:off x="457200" y="469701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86" name="Text 82"/>
          <p:cNvSpPr/>
          <p:nvPr/>
        </p:nvSpPr>
        <p:spPr>
          <a:xfrm>
            <a:off x="628650" y="4686300"/>
            <a:ext cx="199222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B7C9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collapse across outlets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3536045" y="469701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88" name="Text 84"/>
          <p:cNvSpPr/>
          <p:nvPr/>
        </p:nvSpPr>
        <p:spPr>
          <a:xfrm>
            <a:off x="3707495" y="4686300"/>
            <a:ext cx="223368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B7C9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Best-thumbnail extraction per article</a:t>
            </a:r>
            <a:endParaRPr lang="en-US" sz="800" dirty="0"/>
          </a:p>
        </p:txBody>
      </p:sp>
      <p:sp>
        <p:nvSpPr>
          <p:cNvPr id="89" name="Text 85"/>
          <p:cNvSpPr/>
          <p:nvPr/>
        </p:nvSpPr>
        <p:spPr>
          <a:xfrm>
            <a:off x="6838355" y="469701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90" name="Text 86"/>
          <p:cNvSpPr/>
          <p:nvPr/>
        </p:nvSpPr>
        <p:spPr>
          <a:xfrm>
            <a:off x="7009805" y="4686300"/>
            <a:ext cx="177761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B7C9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Per-story severity + read-time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0" y="-1000125"/>
            <a:ext cx="2714625" cy="2714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0" y="-1000125"/>
            <a:ext cx="2714625" cy="2714625"/>
          </a:xfrm>
          <a:prstGeom prst="ellipse">
            <a:avLst/>
          </a:prstGeom>
          <a:solidFill>
            <a:srgbClr val="2DD4B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71475"/>
            <a:ext cx="14442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FEATURE 02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18" y="424160"/>
            <a:ext cx="1571625" cy="71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84002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AI analyst reads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story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you.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457200" y="2009291"/>
            <a:ext cx="4274195" cy="839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any article and the GLM model distills a SOC-grade verdict in seconds: 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happened, why it matters, and the three actions to take first.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Verdicts are cached in SQLite keyed by article URL, so a repeat investigation is instant — and REANALYZE re-runs it on demand.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2986199"/>
            <a:ext cx="52085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65" kern="0" dirty="0">
                <a:solidFill>
                  <a:srgbClr val="8FA8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3-LAYER UPLINK RESILIENCE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3188224"/>
            <a:ext cx="237530" cy="196025"/>
          </a:xfrm>
          <a:prstGeom prst="roundRect">
            <a:avLst>
              <a:gd name="adj" fmla="val 29154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57200" y="3198726"/>
            <a:ext cx="2375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80455" y="3198726"/>
            <a:ext cx="3950940" cy="18565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credentials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direct model call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57200" y="3448971"/>
            <a:ext cx="237530" cy="196025"/>
          </a:xfrm>
          <a:prstGeom prst="roundRect">
            <a:avLst>
              <a:gd name="adj" fmla="val 29154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7200" y="3459473"/>
            <a:ext cx="2375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0455" y="3459473"/>
            <a:ext cx="3950940" cy="18565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Forwarded auth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gateway-injected fresh headers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57200" y="3709718"/>
            <a:ext cx="237530" cy="196025"/>
          </a:xfrm>
          <a:prstGeom prst="roundRect">
            <a:avLst>
              <a:gd name="adj" fmla="val 29154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57200" y="3720219"/>
            <a:ext cx="2375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80455" y="3720219"/>
            <a:ext cx="3950940" cy="185656"/>
          </a:xfrm>
          <a:prstGeom prst="rect">
            <a:avLst/>
          </a:prstGeom>
          <a:noFill/>
          <a:ln/>
        </p:spPr>
        <p:txBody>
          <a:bodyPr wrap="square" lIns="0" tIns="14288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 analyst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deterministic heuristic verdict, never dead-ends.</a:t>
            </a:r>
            <a:endParaRPr lang="en-US" sz="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720" y="1089757"/>
            <a:ext cx="3641080" cy="35268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49292" y="1093329"/>
            <a:ext cx="3633936" cy="3519748"/>
          </a:xfrm>
          <a:prstGeom prst="roundRect">
            <a:avLst>
              <a:gd name="adj" fmla="val 3789"/>
            </a:avLst>
          </a:prstGeom>
          <a:noFill/>
          <a:ln w="7144">
            <a:solidFill>
              <a:srgbClr val="2DD4BF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5052864" y="1096900"/>
            <a:ext cx="3626793" cy="305395"/>
          </a:xfrm>
          <a:prstGeom prst="rect">
            <a:avLst/>
          </a:prstGeom>
          <a:solidFill>
            <a:srgbClr val="2DD4B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5052864" y="1398724"/>
            <a:ext cx="3626793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10026" y="1213879"/>
            <a:ext cx="64294" cy="64294"/>
          </a:xfrm>
          <a:prstGeom prst="ellipse">
            <a:avLst/>
          </a:prstGeom>
          <a:solidFill>
            <a:srgbClr val="F87171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5324326" y="1213879"/>
            <a:ext cx="64294" cy="64294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438626" y="1213879"/>
            <a:ext cx="64294" cy="64294"/>
          </a:xfrm>
          <a:prstGeom prst="ellipse">
            <a:avLst/>
          </a:prstGeom>
          <a:solidFill>
            <a:srgbClr val="2DD4BF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624364" y="1189769"/>
            <a:ext cx="289813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ANALYST VERDICT // REPORT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210026" y="1516596"/>
            <a:ext cx="3469630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 CLASS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210026" y="1657685"/>
            <a:ext cx="346963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Ransomware Campaign</a:t>
            </a:r>
            <a:endParaRPr lang="en-US" sz="844" dirty="0"/>
          </a:p>
        </p:txBody>
      </p:sp>
      <p:sp>
        <p:nvSpPr>
          <p:cNvPr id="28" name="Text 23"/>
          <p:cNvSpPr/>
          <p:nvPr/>
        </p:nvSpPr>
        <p:spPr>
          <a:xfrm>
            <a:off x="5210026" y="2009849"/>
            <a:ext cx="3469630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 RATING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5210026" y="2208088"/>
            <a:ext cx="88302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68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44" dirty="0"/>
          </a:p>
        </p:txBody>
      </p:sp>
      <p:sp>
        <p:nvSpPr>
          <p:cNvPr id="30" name="Text 25"/>
          <p:cNvSpPr/>
          <p:nvPr/>
        </p:nvSpPr>
        <p:spPr>
          <a:xfrm>
            <a:off x="5866247" y="2150938"/>
            <a:ext cx="265624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E6F1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92/100</a:t>
            </a:r>
            <a:endParaRPr lang="en-US" sz="1238" dirty="0"/>
          </a:p>
        </p:txBody>
      </p:sp>
      <p:sp>
        <p:nvSpPr>
          <p:cNvPr id="31" name="Text 26"/>
          <p:cNvSpPr/>
          <p:nvPr/>
        </p:nvSpPr>
        <p:spPr>
          <a:xfrm>
            <a:off x="5213598" y="2440260"/>
            <a:ext cx="3305324" cy="35719"/>
          </a:xfrm>
          <a:prstGeom prst="roundRect">
            <a:avLst>
              <a:gd name="adj" fmla="val 2639982"/>
            </a:avLst>
          </a:prstGeom>
          <a:solidFill>
            <a:srgbClr val="111D2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217170" y="2443832"/>
            <a:ext cx="3034308" cy="28575"/>
          </a:xfrm>
          <a:prstGeom prst="roundRect">
            <a:avLst>
              <a:gd name="adj" fmla="val 3300000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210026" y="2529557"/>
            <a:ext cx="35774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active exploitation of unpatched edge devices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5210026" y="2855044"/>
            <a:ext cx="3469630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210026" y="2996133"/>
            <a:ext cx="357746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2-3 punchy sentences of concrete facts only.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5210026" y="3342494"/>
            <a:ext cx="3469630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5210026" y="3483583"/>
            <a:ext cx="357746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defender impact in one or two lines.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210026" y="3829943"/>
            <a:ext cx="3469630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 ACTIONS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5210026" y="3985320"/>
            <a:ext cx="3469630" cy="137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1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pPr algn="l" indent="0" marL="0">
              <a:lnSpc>
                <a:spcPts val="130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patch exposed services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5210026" y="4150519"/>
            <a:ext cx="3469630" cy="1377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1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pPr algn="l" indent="0" marL="0">
              <a:lnSpc>
                <a:spcPts val="130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hunt for IOCs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5210026" y="4315718"/>
            <a:ext cx="357746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1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pPr algn="l" indent="0" marL="0">
              <a:lnSpc>
                <a:spcPts val="1301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force credential rotation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4581209" y="4702373"/>
            <a:ext cx="45627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 VERDICTS · FORCE REANALYZE · NO INVENTED FACTS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4799" y="4014788"/>
            <a:ext cx="2979201" cy="112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38"/>
              </a:lnSpc>
              <a:buNone/>
            </a:pPr>
            <a:r>
              <a:rPr lang="en-US" sz="12938" b="1" dirty="0">
                <a:solidFill>
                  <a:srgbClr val="2DD4BF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938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14442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FEATURE 03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018" y="424160"/>
            <a:ext cx="1571625" cy="7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84002"/>
            <a:ext cx="8329613" cy="691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Known-exploited vulnerabilities,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checked mid-investigation.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57200" y="1366912"/>
            <a:ext cx="7143750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CyberShield serves the official CISA Known Exploited Vulnerabilities (KEV) catalog server-side. When a story mentions a CVE, the drawer cross-checks it against the catalog — so you know within seconds whether a flaw is not just published, but 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actively exploited in the wild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0772" y="1901800"/>
            <a:ext cx="2081064" cy="258961"/>
          </a:xfrm>
          <a:prstGeom prst="roundRect">
            <a:avLst>
              <a:gd name="adj" fmla="val 36782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1500" y="197413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50094" y="1969666"/>
            <a:ext cx="1781874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52" kern="0" dirty="0">
                <a:solidFill>
                  <a:srgbClr val="E6F1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1.7 MB CATALOG — memory-cached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631132" y="1885427"/>
            <a:ext cx="1359768" cy="291708"/>
          </a:xfrm>
          <a:prstGeom prst="roundRect">
            <a:avLst>
              <a:gd name="adj" fmla="val 32653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45432" y="197413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2924026" y="1969666"/>
            <a:ext cx="95257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spc="5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PRIMARY: cisa.gov</a:t>
            </a:r>
            <a:endParaRPr lang="en-US" sz="647" dirty="0"/>
          </a:p>
        </p:txBody>
      </p:sp>
      <p:sp>
        <p:nvSpPr>
          <p:cNvPr id="13" name="Text 10"/>
          <p:cNvSpPr/>
          <p:nvPr/>
        </p:nvSpPr>
        <p:spPr>
          <a:xfrm>
            <a:off x="4080197" y="1901800"/>
            <a:ext cx="2193131" cy="258961"/>
          </a:xfrm>
          <a:prstGeom prst="roundRect">
            <a:avLst>
              <a:gd name="adj" fmla="val 36782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190926" y="197413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369519" y="1969666"/>
            <a:ext cx="1900666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spc="52" kern="0" dirty="0">
                <a:solidFill>
                  <a:srgbClr val="E6F1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FALLBACK: 1:1 auto-synced mirror</a:t>
            </a:r>
            <a:endParaRPr lang="en-US" sz="647" dirty="0"/>
          </a:p>
        </p:txBody>
      </p:sp>
      <p:sp>
        <p:nvSpPr>
          <p:cNvPr id="16" name="Text 13"/>
          <p:cNvSpPr/>
          <p:nvPr/>
        </p:nvSpPr>
        <p:spPr>
          <a:xfrm>
            <a:off x="457200" y="2350071"/>
            <a:ext cx="11859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65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RECENCY SCALE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5" y="2402756"/>
            <a:ext cx="7269435" cy="71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2562597"/>
            <a:ext cx="8229600" cy="442913"/>
          </a:xfrm>
          <a:prstGeom prst="roundRect">
            <a:avLst>
              <a:gd name="adj" fmla="val 30107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457200" y="2566169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683228" y="2562597"/>
            <a:ext cx="0" cy="442913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" y="3001938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7916" y="2562597"/>
            <a:ext cx="0" cy="442913"/>
          </a:xfrm>
          <a:prstGeom prst="line">
            <a:avLst/>
          </a:prstGeom>
          <a:noFill/>
          <a:ln w="21431">
            <a:solidFill>
              <a:srgbClr val="F8717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35794" y="2692971"/>
            <a:ext cx="116786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57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956" dirty="0"/>
          </a:p>
        </p:txBody>
      </p:sp>
      <p:sp>
        <p:nvSpPr>
          <p:cNvPr id="24" name="Text 20"/>
          <p:cNvSpPr/>
          <p:nvPr/>
        </p:nvSpPr>
        <p:spPr>
          <a:xfrm>
            <a:off x="1507331" y="2706365"/>
            <a:ext cx="6120765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6F1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added to KEV ≤ 30 days</a:t>
            </a:r>
            <a:endParaRPr lang="en-US" sz="816" dirty="0"/>
          </a:p>
        </p:txBody>
      </p:sp>
      <p:sp>
        <p:nvSpPr>
          <p:cNvPr id="25" name="Text 21"/>
          <p:cNvSpPr/>
          <p:nvPr/>
        </p:nvSpPr>
        <p:spPr>
          <a:xfrm>
            <a:off x="7336631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458075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579519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7700963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822406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943850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8065294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8186738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8308181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8429625" y="2755478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57200" y="3091235"/>
            <a:ext cx="8229600" cy="442913"/>
          </a:xfrm>
          <a:prstGeom prst="roundRect">
            <a:avLst>
              <a:gd name="adj" fmla="val 30107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2"/>
          <p:cNvSpPr/>
          <p:nvPr/>
        </p:nvSpPr>
        <p:spPr>
          <a:xfrm>
            <a:off x="457200" y="3094806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683228" y="3091235"/>
            <a:ext cx="0" cy="442913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7200" y="3530575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67916" y="3091235"/>
            <a:ext cx="0" cy="442913"/>
          </a:xfrm>
          <a:prstGeom prst="line">
            <a:avLst/>
          </a:prstGeom>
          <a:noFill/>
          <a:ln w="21431">
            <a:solidFill>
              <a:srgbClr val="F59E0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35794" y="3221608"/>
            <a:ext cx="139446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57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956" dirty="0"/>
          </a:p>
        </p:txBody>
      </p:sp>
      <p:sp>
        <p:nvSpPr>
          <p:cNvPr id="41" name="Text 37"/>
          <p:cNvSpPr/>
          <p:nvPr/>
        </p:nvSpPr>
        <p:spPr>
          <a:xfrm>
            <a:off x="1507331" y="3235003"/>
            <a:ext cx="6120765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6F1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added ≤ 180 days</a:t>
            </a:r>
            <a:endParaRPr lang="en-US" sz="816" dirty="0"/>
          </a:p>
        </p:txBody>
      </p:sp>
      <p:sp>
        <p:nvSpPr>
          <p:cNvPr id="42" name="Text 38"/>
          <p:cNvSpPr/>
          <p:nvPr/>
        </p:nvSpPr>
        <p:spPr>
          <a:xfrm>
            <a:off x="7336631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7458075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7579519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7700963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7822406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7943850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8065294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8186738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8308181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8429625" y="3284116"/>
            <a:ext cx="92869" cy="57150"/>
          </a:xfrm>
          <a:prstGeom prst="roundRect">
            <a:avLst>
              <a:gd name="adj" fmla="val 33333"/>
            </a:avLst>
          </a:prstGeom>
          <a:solidFill>
            <a:srgbClr val="8FA8A3">
              <a:alpha val="1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57200" y="3619872"/>
            <a:ext cx="8229600" cy="442913"/>
          </a:xfrm>
          <a:prstGeom prst="roundRect">
            <a:avLst>
              <a:gd name="adj" fmla="val 30107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49"/>
          <p:cNvSpPr/>
          <p:nvPr/>
        </p:nvSpPr>
        <p:spPr>
          <a:xfrm>
            <a:off x="457200" y="3623444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83228" y="3619872"/>
            <a:ext cx="0" cy="442913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457200" y="4059213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467916" y="3619872"/>
            <a:ext cx="0" cy="442913"/>
          </a:xfrm>
          <a:prstGeom prst="line">
            <a:avLst/>
          </a:prstGeom>
          <a:noFill/>
          <a:ln w="21431">
            <a:solidFill>
              <a:srgbClr val="2DD4BF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35794" y="3750246"/>
            <a:ext cx="139446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5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</a:t>
            </a:r>
            <a:endParaRPr lang="en-US" sz="956" dirty="0"/>
          </a:p>
        </p:txBody>
      </p:sp>
      <p:sp>
        <p:nvSpPr>
          <p:cNvPr id="58" name="Text 54"/>
          <p:cNvSpPr/>
          <p:nvPr/>
        </p:nvSpPr>
        <p:spPr>
          <a:xfrm>
            <a:off x="1507331" y="3763640"/>
            <a:ext cx="6120765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older entries</a:t>
            </a:r>
            <a:endParaRPr lang="en-US" sz="816" dirty="0"/>
          </a:p>
        </p:txBody>
      </p:sp>
      <p:sp>
        <p:nvSpPr>
          <p:cNvPr id="59" name="Text 55"/>
          <p:cNvSpPr/>
          <p:nvPr/>
        </p:nvSpPr>
        <p:spPr>
          <a:xfrm>
            <a:off x="7336631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7458075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7579519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7700963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7822406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7943850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8065294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8186738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8308181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8429625" y="3812753"/>
            <a:ext cx="92869" cy="57150"/>
          </a:xfrm>
          <a:prstGeom prst="roundRect">
            <a:avLst>
              <a:gd name="adj" fmla="val 33333"/>
            </a:avLst>
          </a:prstGeom>
          <a:solidFill>
            <a:srgbClr val="2DD4BF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457200" y="471398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055" dirty="0"/>
          </a:p>
        </p:txBody>
      </p:sp>
      <p:sp>
        <p:nvSpPr>
          <p:cNvPr id="70" name="Text 66"/>
          <p:cNvSpPr/>
          <p:nvPr/>
        </p:nvSpPr>
        <p:spPr>
          <a:xfrm>
            <a:off x="621506" y="4705945"/>
            <a:ext cx="80652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39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Mirror fallback keeps the wall alive if the official edge rejects datacenter traffic.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7322" y="-1210866"/>
            <a:ext cx="3064669" cy="3064669"/>
          </a:xfrm>
          <a:prstGeom prst="roundRect">
            <a:avLst>
              <a:gd name="adj" fmla="val 3107692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47384" y="-710803"/>
            <a:ext cx="2064544" cy="2064544"/>
          </a:xfrm>
          <a:prstGeom prst="roundRect">
            <a:avLst>
              <a:gd name="adj" fmla="val 4613148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71475"/>
            <a:ext cx="14442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FEATURE 04</a:t>
            </a:r>
            <a:endParaRPr lang="en-US" sz="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018" y="424160"/>
            <a:ext cx="1571625" cy="71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84002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the world’s threat activity,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just a list.</a:t>
            </a:r>
            <a:endParaRPr lang="en-US" sz="2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89757"/>
            <a:ext cx="2628900" cy="32393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772" y="1093329"/>
            <a:ext cx="2621756" cy="3232212"/>
          </a:xfrm>
          <a:prstGeom prst="roundRect">
            <a:avLst>
              <a:gd name="adj" fmla="val 5086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329448" y="1182625"/>
            <a:ext cx="72537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2DD4BF">
                    <a:alpha val="9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150" dirty="0"/>
          </a:p>
        </p:txBody>
      </p:sp>
      <p:sp>
        <p:nvSpPr>
          <p:cNvPr id="10" name="Text 6"/>
          <p:cNvSpPr/>
          <p:nvPr/>
        </p:nvSpPr>
        <p:spPr>
          <a:xfrm>
            <a:off x="653653" y="1286210"/>
            <a:ext cx="364331" cy="364331"/>
          </a:xfrm>
          <a:prstGeom prst="roundRect">
            <a:avLst>
              <a:gd name="adj" fmla="val 3137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95980" y="1328537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898" dirty="0"/>
          </a:p>
        </p:txBody>
      </p:sp>
      <p:sp>
        <p:nvSpPr>
          <p:cNvPr id="12" name="Text 8"/>
          <p:cNvSpPr/>
          <p:nvPr/>
        </p:nvSpPr>
        <p:spPr>
          <a:xfrm>
            <a:off x="650081" y="1796988"/>
            <a:ext cx="22431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21" kern="0" dirty="0">
                <a:solidFill>
                  <a:srgbClr val="E6F1E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THREAT GLOBE</a:t>
            </a:r>
            <a:endParaRPr lang="en-US" sz="1069" dirty="0"/>
          </a:p>
        </p:txBody>
      </p:sp>
      <p:sp>
        <p:nvSpPr>
          <p:cNvPr id="13" name="Text 9"/>
          <p:cNvSpPr/>
          <p:nvPr/>
        </p:nvSpPr>
        <p:spPr>
          <a:xfrm>
            <a:off x="650081" y="2072022"/>
            <a:ext cx="2243138" cy="54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WebGL globe plots global reporting in space — instantly grasp where activity concentrates, powered by three.js with GSAP-driven motion.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81" y="3937992"/>
            <a:ext cx="2243138" cy="71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0081" y="4023717"/>
            <a:ext cx="22431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THREE.JS · GSAP MOTION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550" y="1089757"/>
            <a:ext cx="2628900" cy="32393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61122" y="1093329"/>
            <a:ext cx="2621756" cy="3232212"/>
          </a:xfrm>
          <a:prstGeom prst="roundRect">
            <a:avLst>
              <a:gd name="adj" fmla="val 5086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5129798" y="1182625"/>
            <a:ext cx="72537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2DD4BF">
                    <a:alpha val="9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150" dirty="0"/>
          </a:p>
        </p:txBody>
      </p:sp>
      <p:sp>
        <p:nvSpPr>
          <p:cNvPr id="19" name="Text 13"/>
          <p:cNvSpPr/>
          <p:nvPr/>
        </p:nvSpPr>
        <p:spPr>
          <a:xfrm>
            <a:off x="3454003" y="1286210"/>
            <a:ext cx="364331" cy="364331"/>
          </a:xfrm>
          <a:prstGeom prst="roundRect">
            <a:avLst>
              <a:gd name="adj" fmla="val 3137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3496330" y="1328537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898" dirty="0"/>
          </a:p>
        </p:txBody>
      </p:sp>
      <p:sp>
        <p:nvSpPr>
          <p:cNvPr id="21" name="Text 15"/>
          <p:cNvSpPr/>
          <p:nvPr/>
        </p:nvSpPr>
        <p:spPr>
          <a:xfrm>
            <a:off x="3450431" y="1796988"/>
            <a:ext cx="22431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21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RADAR BOOT SEQUENCE</a:t>
            </a:r>
            <a:endParaRPr lang="en-US" sz="1069" dirty="0"/>
          </a:p>
        </p:txBody>
      </p:sp>
      <p:sp>
        <p:nvSpPr>
          <p:cNvPr id="22" name="Text 16"/>
          <p:cNvSpPr/>
          <p:nvPr/>
        </p:nvSpPr>
        <p:spPr>
          <a:xfrm>
            <a:off x="3450431" y="2072022"/>
            <a:ext cx="2243138" cy="54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session starts with a cinematic threat-radar sweep and an honest terminal boot log — the wall is verified live before you read it.</a:t>
            </a:r>
            <a:endParaRPr lang="en-US" sz="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431" y="3937992"/>
            <a:ext cx="2243138" cy="71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450431" y="4023717"/>
            <a:ext cx="22431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CINEMATIC SWEEP · BOOT LOG</a:t>
            </a:r>
            <a:endParaRPr lang="en-US" sz="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900" y="1089757"/>
            <a:ext cx="2628900" cy="32393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61472" y="1093329"/>
            <a:ext cx="2621756" cy="3232212"/>
          </a:xfrm>
          <a:prstGeom prst="roundRect">
            <a:avLst>
              <a:gd name="adj" fmla="val 5086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7930148" y="1182625"/>
            <a:ext cx="72537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2DD4BF">
                    <a:alpha val="9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150" dirty="0"/>
          </a:p>
        </p:txBody>
      </p:sp>
      <p:sp>
        <p:nvSpPr>
          <p:cNvPr id="28" name="Text 20"/>
          <p:cNvSpPr/>
          <p:nvPr/>
        </p:nvSpPr>
        <p:spPr>
          <a:xfrm>
            <a:off x="6254353" y="1286210"/>
            <a:ext cx="364331" cy="364331"/>
          </a:xfrm>
          <a:prstGeom prst="roundRect">
            <a:avLst>
              <a:gd name="adj" fmla="val 3137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6296680" y="1328537"/>
            <a:ext cx="279678" cy="2796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9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98" dirty="0"/>
          </a:p>
        </p:txBody>
      </p:sp>
      <p:sp>
        <p:nvSpPr>
          <p:cNvPr id="30" name="Text 22"/>
          <p:cNvSpPr/>
          <p:nvPr/>
        </p:nvSpPr>
        <p:spPr>
          <a:xfrm>
            <a:off x="6250781" y="1796988"/>
            <a:ext cx="224313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21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JARVIS VOICE GREETING</a:t>
            </a:r>
            <a:endParaRPr lang="en-US" sz="1069" dirty="0"/>
          </a:p>
        </p:txBody>
      </p:sp>
      <p:sp>
        <p:nvSpPr>
          <p:cNvPr id="31" name="Text 23"/>
          <p:cNvSpPr/>
          <p:nvPr/>
        </p:nvSpPr>
        <p:spPr>
          <a:xfrm>
            <a:off x="6250781" y="2072022"/>
            <a:ext cx="2243138" cy="54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800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optional voice assistant greeting announces the session; audio unlocks only after a user gesture and is one toggle away from silence.</a:t>
            </a:r>
            <a:endParaRPr lang="en-US" sz="8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0781" y="3937992"/>
            <a:ext cx="2243138" cy="71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50781" y="4023717"/>
            <a:ext cx="235286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06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USER-GESTURE AUDIO UNLOCK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460772" y="4489847"/>
            <a:ext cx="8222456" cy="321469"/>
          </a:xfrm>
          <a:prstGeom prst="roundRect">
            <a:avLst>
              <a:gd name="adj" fmla="val 35556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1793528" y="4591645"/>
            <a:ext cx="68861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WEBGL GLOBE</a:t>
            </a:r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GSAP CHOREOGRAPHY</a:t>
            </a:r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PRIVACY-SAFE AUDIO TOGGLE</a:t>
            </a:r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REDUCED-MOTION SUPPORTED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14442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CORE FEATURE 05</a:t>
            </a:r>
            <a:endParaRPr lang="en-US" sz="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018" y="424160"/>
            <a:ext cx="1571625" cy="7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84002"/>
            <a:ext cx="8636000" cy="3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headline to 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</a:t>
            </a:r>
            <a:pPr algn="l" indent="0" marL="0">
              <a:lnSpc>
                <a:spcPts val="2520"/>
              </a:lnSpc>
              <a:buNone/>
            </a:pPr>
            <a:r>
              <a:rPr lang="en-US" sz="2250" b="1" spc="-23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one click.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57200" y="1075469"/>
            <a:ext cx="4369073" cy="60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5"/>
              </a:lnSpc>
              <a:buNone/>
            </a:pPr>
            <a:r>
              <a:rPr lang="en-US" sz="872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Click any story to open the investigation drawer: the full AI verdict, the story’s category context, a KEV cross-check for mentioned CVEs, and a clean link out to the original source.</a:t>
            </a:r>
            <a:endParaRPr lang="en-US" sz="872" dirty="0"/>
          </a:p>
        </p:txBody>
      </p:sp>
      <p:sp>
        <p:nvSpPr>
          <p:cNvPr id="6" name="Text 3"/>
          <p:cNvSpPr/>
          <p:nvPr/>
        </p:nvSpPr>
        <p:spPr>
          <a:xfrm>
            <a:off x="457200" y="1790514"/>
            <a:ext cx="6023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65" kern="0" dirty="0">
                <a:solidFill>
                  <a:srgbClr val="8FA8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CATEGORY FILTERS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975951"/>
            <a:ext cx="600298" cy="254203"/>
          </a:xfrm>
          <a:prstGeom prst="roundRect">
            <a:avLst>
              <a:gd name="adj" fmla="val 3743258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9087" y="1988753"/>
            <a:ext cx="71652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Signals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14648" y="1975951"/>
            <a:ext cx="705110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114648" y="1988753"/>
            <a:ext cx="705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Ransomware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876909" y="1975951"/>
            <a:ext cx="924111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76909" y="1988753"/>
            <a:ext cx="92411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Zero-Days &amp; CVEs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8170" y="1975951"/>
            <a:ext cx="767172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821152" y="1988753"/>
            <a:ext cx="84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Breaches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82492" y="1975951"/>
            <a:ext cx="946547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682492" y="1988753"/>
            <a:ext cx="94654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APT &amp; Nation-State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" y="2261701"/>
            <a:ext cx="524061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57200" y="2274503"/>
            <a:ext cx="524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Malware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38411" y="2261701"/>
            <a:ext cx="895759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038411" y="2274503"/>
            <a:ext cx="8957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Phishing &amp; Scams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991320" y="2261701"/>
            <a:ext cx="614586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934357" y="2274503"/>
            <a:ext cx="7285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Security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63056" y="2261701"/>
            <a:ext cx="919535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663056" y="2274503"/>
            <a:ext cx="91953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&amp; Enterprise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639741" y="2261701"/>
            <a:ext cx="681224" cy="254203"/>
          </a:xfrm>
          <a:prstGeom prst="roundRect">
            <a:avLst>
              <a:gd name="adj" fmla="val 3743258"/>
            </a:avLst>
          </a:prstGeom>
          <a:solidFill>
            <a:srgbClr val="0A1119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603508" y="2274503"/>
            <a:ext cx="75368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&amp; IoT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2660266"/>
            <a:ext cx="64955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65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" y="288529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871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57200" y="2869220"/>
            <a:ext cx="843263" cy="12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74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18332" y="28585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282638" y="2885294"/>
            <a:ext cx="85725" cy="85725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1282638" y="2869220"/>
            <a:ext cx="580430" cy="12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74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716844" y="28585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881150" y="2885294"/>
            <a:ext cx="85725" cy="85725"/>
          </a:xfrm>
          <a:prstGeom prst="roundRect">
            <a:avLst>
              <a:gd name="adj" fmla="val 33333"/>
            </a:avLst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1881150" y="2869220"/>
            <a:ext cx="843263" cy="12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74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2542282" y="28585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8A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706588" y="2885294"/>
            <a:ext cx="85725" cy="85725"/>
          </a:xfrm>
          <a:prstGeom prst="roundRect">
            <a:avLst>
              <a:gd name="adj" fmla="val 33333"/>
            </a:avLst>
          </a:prstGeom>
          <a:solidFill>
            <a:srgbClr val="8FA8A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706588" y="2869220"/>
            <a:ext cx="2119685" cy="12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74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MODERATE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64344" y="4586288"/>
            <a:ext cx="0" cy="22860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5788" y="4636294"/>
            <a:ext cx="3420852" cy="13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 a full day of global reporting in minutes —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filtering beats scrolling.</a:t>
            </a:r>
            <a:endParaRPr lang="en-US" sz="844" dirty="0"/>
          </a:p>
        </p:txBody>
      </p:sp>
      <p:sp>
        <p:nvSpPr>
          <p:cNvPr id="41" name="Text 38"/>
          <p:cNvSpPr/>
          <p:nvPr/>
        </p:nvSpPr>
        <p:spPr>
          <a:xfrm>
            <a:off x="5115595" y="1079041"/>
            <a:ext cx="3567522" cy="3732275"/>
          </a:xfrm>
          <a:prstGeom prst="roundRect">
            <a:avLst>
              <a:gd name="adj" fmla="val 4272"/>
            </a:avLst>
          </a:prstGeom>
          <a:noFill/>
          <a:ln w="7144">
            <a:solidFill>
              <a:srgbClr val="2DD4BF"/>
            </a:solidFill>
            <a:prstDash val="solid"/>
          </a:ln>
          <a:effectLst>
            <a:outerShdw sx="100000" sy="100000" kx="0" ky="0" algn="bl" rotWithShape="0" blurRad="571500" dist="228600" dir="54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" descr="/tmp/h2p-fit-1791631764922-ubzkl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67" y="1082613"/>
            <a:ext cx="3560378" cy="3725131"/>
          </a:xfrm>
          <a:prstGeom prst="rect">
            <a:avLst/>
          </a:prstGeom>
        </p:spPr>
      </p:pic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167" y="1082613"/>
            <a:ext cx="3560378" cy="3725131"/>
          </a:xfrm>
          <a:prstGeom prst="rect">
            <a:avLst/>
          </a:prstGeom>
        </p:spPr>
      </p:pic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167" y="1082613"/>
            <a:ext cx="3560378" cy="37251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9375" y="-1571625"/>
            <a:ext cx="40005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75" y="-1571625"/>
            <a:ext cx="4000500" cy="4000500"/>
          </a:xfrm>
          <a:prstGeom prst="ellipse">
            <a:avLst/>
          </a:prstGeom>
          <a:solidFill>
            <a:srgbClr val="2DD4B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71475"/>
            <a:ext cx="77790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IT'S FOR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69714"/>
            <a:ext cx="6147264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anyone who needs to </a:t>
            </a:r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 first</a:t>
            </a:r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700181" y="698302"/>
            <a:ext cx="1339458" cy="237744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8FA8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SEGMENTS // 06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1202"/>
            <a:ext cx="8229600" cy="7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772" y="1223367"/>
            <a:ext cx="2640732" cy="1697534"/>
          </a:xfrm>
          <a:prstGeom prst="roundRect">
            <a:avLst>
              <a:gd name="adj" fmla="val 7856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39366" y="1387673"/>
            <a:ext cx="321469" cy="321469"/>
          </a:xfrm>
          <a:prstGeom prst="roundRect">
            <a:avLst>
              <a:gd name="adj" fmla="val 3259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675799" y="142410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11" name="Text 7"/>
          <p:cNvSpPr/>
          <p:nvPr/>
        </p:nvSpPr>
        <p:spPr>
          <a:xfrm>
            <a:off x="2781679" y="148411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22" kern="0" dirty="0">
                <a:solidFill>
                  <a:srgbClr val="8FA8A3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12" name="Text 8"/>
          <p:cNvSpPr/>
          <p:nvPr/>
        </p:nvSpPr>
        <p:spPr>
          <a:xfrm>
            <a:off x="635794" y="1827014"/>
            <a:ext cx="229068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4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 &amp; SECURITY TEAMS</a:t>
            </a:r>
            <a:endParaRPr lang="en-US" sz="928" dirty="0"/>
          </a:p>
        </p:txBody>
      </p:sp>
      <p:sp>
        <p:nvSpPr>
          <p:cNvPr id="13" name="Text 9"/>
          <p:cNvSpPr/>
          <p:nvPr/>
        </p:nvSpPr>
        <p:spPr>
          <a:xfrm>
            <a:off x="635794" y="2060972"/>
            <a:ext cx="2290688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shared live wall for the ops room — everyone reads the same scored feed.</a:t>
            </a:r>
            <a:endParaRPr lang="en-US" sz="816" dirty="0"/>
          </a:p>
        </p:txBody>
      </p:sp>
      <p:sp>
        <p:nvSpPr>
          <p:cNvPr id="14" name="Text 10"/>
          <p:cNvSpPr/>
          <p:nvPr/>
        </p:nvSpPr>
        <p:spPr>
          <a:xfrm>
            <a:off x="3251522" y="1223367"/>
            <a:ext cx="2640843" cy="1697534"/>
          </a:xfrm>
          <a:prstGeom prst="roundRect">
            <a:avLst>
              <a:gd name="adj" fmla="val 7856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430116" y="1387673"/>
            <a:ext cx="321469" cy="321469"/>
          </a:xfrm>
          <a:prstGeom prst="roundRect">
            <a:avLst>
              <a:gd name="adj" fmla="val 3259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466549" y="142410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688" dirty="0"/>
          </a:p>
        </p:txBody>
      </p:sp>
      <p:sp>
        <p:nvSpPr>
          <p:cNvPr id="17" name="Text 13"/>
          <p:cNvSpPr/>
          <p:nvPr/>
        </p:nvSpPr>
        <p:spPr>
          <a:xfrm>
            <a:off x="5572541" y="148411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22" kern="0" dirty="0">
                <a:solidFill>
                  <a:srgbClr val="8FA8A3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18" name="Text 14"/>
          <p:cNvSpPr/>
          <p:nvPr/>
        </p:nvSpPr>
        <p:spPr>
          <a:xfrm>
            <a:off x="3426544" y="1827014"/>
            <a:ext cx="2290800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4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MANAGERS</a:t>
            </a:r>
            <a:endParaRPr lang="en-US" sz="928" dirty="0"/>
          </a:p>
        </p:txBody>
      </p:sp>
      <p:sp>
        <p:nvSpPr>
          <p:cNvPr id="19" name="Text 15"/>
          <p:cNvSpPr/>
          <p:nvPr/>
        </p:nvSpPr>
        <p:spPr>
          <a:xfrm>
            <a:off x="3426544" y="2060972"/>
            <a:ext cx="229080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Vendor-neutral awareness: know what is being exploited before it lands in your stack.</a:t>
            </a:r>
            <a:endParaRPr lang="en-US" sz="816" dirty="0"/>
          </a:p>
        </p:txBody>
      </p:sp>
      <p:sp>
        <p:nvSpPr>
          <p:cNvPr id="20" name="Text 16"/>
          <p:cNvSpPr/>
          <p:nvPr/>
        </p:nvSpPr>
        <p:spPr>
          <a:xfrm>
            <a:off x="6042385" y="1223367"/>
            <a:ext cx="2640732" cy="1697534"/>
          </a:xfrm>
          <a:prstGeom prst="roundRect">
            <a:avLst>
              <a:gd name="adj" fmla="val 7856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20978" y="1387673"/>
            <a:ext cx="321469" cy="321469"/>
          </a:xfrm>
          <a:prstGeom prst="roundRect">
            <a:avLst>
              <a:gd name="adj" fmla="val 3259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257412" y="1424107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3" name="Text 19"/>
          <p:cNvSpPr/>
          <p:nvPr/>
        </p:nvSpPr>
        <p:spPr>
          <a:xfrm>
            <a:off x="8363292" y="1484114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22" kern="0" dirty="0">
                <a:solidFill>
                  <a:srgbClr val="8FA8A3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6217407" y="1827014"/>
            <a:ext cx="229068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4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ANALYSTS &amp; RESEARCHERS</a:t>
            </a:r>
            <a:endParaRPr lang="en-US" sz="928" dirty="0"/>
          </a:p>
        </p:txBody>
      </p:sp>
      <p:sp>
        <p:nvSpPr>
          <p:cNvPr id="25" name="Text 21"/>
          <p:cNvSpPr/>
          <p:nvPr/>
        </p:nvSpPr>
        <p:spPr>
          <a:xfrm>
            <a:off x="6217407" y="2060972"/>
            <a:ext cx="2290688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Cross-source dedupe and KEV cross-checks speed up open-source investigations.</a:t>
            </a:r>
            <a:endParaRPr lang="en-US" sz="816" dirty="0"/>
          </a:p>
        </p:txBody>
      </p:sp>
      <p:sp>
        <p:nvSpPr>
          <p:cNvPr id="26" name="Text 22"/>
          <p:cNvSpPr/>
          <p:nvPr/>
        </p:nvSpPr>
        <p:spPr>
          <a:xfrm>
            <a:off x="460772" y="3070920"/>
            <a:ext cx="2640732" cy="1697534"/>
          </a:xfrm>
          <a:prstGeom prst="roundRect">
            <a:avLst>
              <a:gd name="adj" fmla="val 7856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39366" y="3235226"/>
            <a:ext cx="321469" cy="321469"/>
          </a:xfrm>
          <a:prstGeom prst="roundRect">
            <a:avLst>
              <a:gd name="adj" fmla="val 3259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75799" y="327165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688" dirty="0"/>
          </a:p>
        </p:txBody>
      </p:sp>
      <p:sp>
        <p:nvSpPr>
          <p:cNvPr id="29" name="Text 25"/>
          <p:cNvSpPr/>
          <p:nvPr/>
        </p:nvSpPr>
        <p:spPr>
          <a:xfrm>
            <a:off x="2781679" y="3331666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22" kern="0" dirty="0">
                <a:solidFill>
                  <a:srgbClr val="8FA8A3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30" name="Text 26"/>
          <p:cNvSpPr/>
          <p:nvPr/>
        </p:nvSpPr>
        <p:spPr>
          <a:xfrm>
            <a:off x="635794" y="3674566"/>
            <a:ext cx="229068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4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EDUCATORS &amp; STUDENTS</a:t>
            </a:r>
            <a:endParaRPr lang="en-US" sz="928" dirty="0"/>
          </a:p>
        </p:txBody>
      </p:sp>
      <p:sp>
        <p:nvSpPr>
          <p:cNvPr id="31" name="Text 27"/>
          <p:cNvSpPr/>
          <p:nvPr/>
        </p:nvSpPr>
        <p:spPr>
          <a:xfrm>
            <a:off x="635794" y="3908524"/>
            <a:ext cx="2290688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cases, real severity scores — the threat landscape as living course material.</a:t>
            </a:r>
            <a:endParaRPr lang="en-US" sz="816" dirty="0"/>
          </a:p>
        </p:txBody>
      </p:sp>
      <p:sp>
        <p:nvSpPr>
          <p:cNvPr id="32" name="Text 28"/>
          <p:cNvSpPr/>
          <p:nvPr/>
        </p:nvSpPr>
        <p:spPr>
          <a:xfrm>
            <a:off x="3251522" y="3070920"/>
            <a:ext cx="2640843" cy="1697534"/>
          </a:xfrm>
          <a:prstGeom prst="roundRect">
            <a:avLst>
              <a:gd name="adj" fmla="val 7856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430116" y="3235226"/>
            <a:ext cx="321469" cy="321469"/>
          </a:xfrm>
          <a:prstGeom prst="roundRect">
            <a:avLst>
              <a:gd name="adj" fmla="val 3259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3466549" y="327165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688" dirty="0"/>
          </a:p>
        </p:txBody>
      </p:sp>
      <p:sp>
        <p:nvSpPr>
          <p:cNvPr id="35" name="Text 31"/>
          <p:cNvSpPr/>
          <p:nvPr/>
        </p:nvSpPr>
        <p:spPr>
          <a:xfrm>
            <a:off x="5572541" y="3331666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22" kern="0" dirty="0">
                <a:solidFill>
                  <a:srgbClr val="8FA8A3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3426544" y="3674566"/>
            <a:ext cx="2290800" cy="3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4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NEWSLETTER &amp; CONTENT CREATORS</a:t>
            </a:r>
            <a:endParaRPr lang="en-US" sz="928" dirty="0"/>
          </a:p>
        </p:txBody>
      </p:sp>
      <p:sp>
        <p:nvSpPr>
          <p:cNvPr id="37" name="Text 33"/>
          <p:cNvSpPr/>
          <p:nvPr/>
        </p:nvSpPr>
        <p:spPr>
          <a:xfrm>
            <a:off x="3426544" y="4085332"/>
            <a:ext cx="229080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Never miss the story: 19 streams, deduplicated, with thumbnails ready to quote.</a:t>
            </a:r>
            <a:endParaRPr lang="en-US" sz="816" dirty="0"/>
          </a:p>
        </p:txBody>
      </p:sp>
      <p:sp>
        <p:nvSpPr>
          <p:cNvPr id="38" name="Text 34"/>
          <p:cNvSpPr/>
          <p:nvPr/>
        </p:nvSpPr>
        <p:spPr>
          <a:xfrm>
            <a:off x="6042385" y="3070920"/>
            <a:ext cx="2640732" cy="1697534"/>
          </a:xfrm>
          <a:prstGeom prst="roundRect">
            <a:avLst>
              <a:gd name="adj" fmla="val 7856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220978" y="3235226"/>
            <a:ext cx="321469" cy="321469"/>
          </a:xfrm>
          <a:prstGeom prst="roundRect">
            <a:avLst>
              <a:gd name="adj" fmla="val 3259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257412" y="327165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41" name="Text 37"/>
          <p:cNvSpPr/>
          <p:nvPr/>
        </p:nvSpPr>
        <p:spPr>
          <a:xfrm>
            <a:off x="8363292" y="3331666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122" kern="0" dirty="0">
                <a:solidFill>
                  <a:srgbClr val="8FA8A3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42" name="Text 38"/>
          <p:cNvSpPr/>
          <p:nvPr/>
        </p:nvSpPr>
        <p:spPr>
          <a:xfrm>
            <a:off x="6217407" y="3674566"/>
            <a:ext cx="229068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spc="4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EXECUTIVES</a:t>
            </a:r>
            <a:endParaRPr lang="en-US" sz="928" dirty="0"/>
          </a:p>
        </p:txBody>
      </p:sp>
      <p:sp>
        <p:nvSpPr>
          <p:cNvPr id="43" name="Text 39"/>
          <p:cNvSpPr/>
          <p:nvPr/>
        </p:nvSpPr>
        <p:spPr>
          <a:xfrm>
            <a:off x="6217407" y="3908524"/>
            <a:ext cx="2290688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five-minute morning read: highest-severity items first, plain-language verdicts.</a:t>
            </a:r>
            <a:endParaRPr lang="en-US" sz="81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28750" y="2571750"/>
            <a:ext cx="4429125" cy="44291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428750" y="2571750"/>
            <a:ext cx="4429125" cy="4429125"/>
          </a:xfrm>
          <a:prstGeom prst="ellipse">
            <a:avLst/>
          </a:prstGeom>
          <a:solidFill>
            <a:srgbClr val="2DD4B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71475"/>
            <a:ext cx="49510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TEAMS USE IT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69714"/>
            <a:ext cx="3912487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scenarios, </a:t>
            </a:r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wins</a:t>
            </a:r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277360" y="698302"/>
            <a:ext cx="1866640" cy="237744"/>
          </a:xfrm>
          <a:prstGeom prst="rect">
            <a:avLst/>
          </a:prstGeom>
          <a:noFill/>
          <a:ln/>
        </p:spPr>
        <p:txBody>
          <a:bodyPr wrap="none" lIns="0" tIns="0" rIns="0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8FA8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INPUT → OUTPUT // 04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1202"/>
            <a:ext cx="8229600" cy="7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219795"/>
            <a:ext cx="4043363" cy="1704677"/>
          </a:xfrm>
          <a:prstGeom prst="roundRect">
            <a:avLst>
              <a:gd name="adj" fmla="val 7823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457200" y="1226939"/>
            <a:ext cx="4043363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96991" y="1219795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2920901"/>
            <a:ext cx="4043363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0772" y="1219795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0081" y="1426964"/>
            <a:ext cx="2753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922213" y="1405533"/>
            <a:ext cx="338546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8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MORNING BRIEFING</a:t>
            </a:r>
            <a:endParaRPr lang="en-US" sz="1069" dirty="0"/>
          </a:p>
        </p:txBody>
      </p:sp>
      <p:sp>
        <p:nvSpPr>
          <p:cNvPr id="15" name="Text 11"/>
          <p:cNvSpPr/>
          <p:nvPr/>
        </p:nvSpPr>
        <p:spPr>
          <a:xfrm>
            <a:off x="650081" y="1709142"/>
            <a:ext cx="365760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50081" y="1816298"/>
            <a:ext cx="3657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the wall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scan scored headlines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read only </a:t>
            </a:r>
            <a:pPr algn="l" indent="0" marL="0">
              <a:lnSpc>
                <a:spcPts val="1350"/>
              </a:lnSpc>
              <a:buNone/>
            </a:pPr>
            <a:r>
              <a:rPr lang="en-US" sz="844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CRITICAL/HIGH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verdicts.</a:t>
            </a:r>
            <a:endParaRPr lang="en-US" sz="844" dirty="0"/>
          </a:p>
        </p:txBody>
      </p:sp>
      <p:sp>
        <p:nvSpPr>
          <p:cNvPr id="17" name="Text 13"/>
          <p:cNvSpPr/>
          <p:nvPr/>
        </p:nvSpPr>
        <p:spPr>
          <a:xfrm>
            <a:off x="653653" y="2471626"/>
            <a:ext cx="3650456" cy="270681"/>
          </a:xfrm>
          <a:prstGeom prst="roundRect">
            <a:avLst>
              <a:gd name="adj" fmla="val 28151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57238" y="2550654"/>
            <a:ext cx="552369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207740" y="2539492"/>
            <a:ext cx="2999929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situational awareness before the first coffee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43438" y="1219795"/>
            <a:ext cx="4043363" cy="1704677"/>
          </a:xfrm>
          <a:prstGeom prst="roundRect">
            <a:avLst>
              <a:gd name="adj" fmla="val 7823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7"/>
          <p:cNvSpPr/>
          <p:nvPr/>
        </p:nvSpPr>
        <p:spPr>
          <a:xfrm>
            <a:off x="4643438" y="1226939"/>
            <a:ext cx="4043363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3228" y="1219795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43438" y="2920901"/>
            <a:ext cx="4043363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47009" y="1219795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36319" y="1426964"/>
            <a:ext cx="2753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5108451" y="1405533"/>
            <a:ext cx="338546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8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TRIAGE</a:t>
            </a:r>
            <a:endParaRPr lang="en-US" sz="1069" dirty="0"/>
          </a:p>
        </p:txBody>
      </p:sp>
      <p:sp>
        <p:nvSpPr>
          <p:cNvPr id="27" name="Text 23"/>
          <p:cNvSpPr/>
          <p:nvPr/>
        </p:nvSpPr>
        <p:spPr>
          <a:xfrm>
            <a:off x="4836319" y="1709142"/>
            <a:ext cx="365760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836319" y="1816298"/>
            <a:ext cx="3657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Paste a live article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AI verdict returns class, severity, 3 immediate actions.</a:t>
            </a:r>
            <a:endParaRPr lang="en-US" sz="844" dirty="0"/>
          </a:p>
        </p:txBody>
      </p:sp>
      <p:sp>
        <p:nvSpPr>
          <p:cNvPr id="29" name="Text 25"/>
          <p:cNvSpPr/>
          <p:nvPr/>
        </p:nvSpPr>
        <p:spPr>
          <a:xfrm>
            <a:off x="4839891" y="2471626"/>
            <a:ext cx="3650456" cy="270681"/>
          </a:xfrm>
          <a:prstGeom prst="roundRect">
            <a:avLst>
              <a:gd name="adj" fmla="val 28151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943475" y="2550654"/>
            <a:ext cx="552369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3978" y="2539492"/>
            <a:ext cx="2999929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defensible next steps in under a minute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57200" y="3067348"/>
            <a:ext cx="4043363" cy="1704677"/>
          </a:xfrm>
          <a:prstGeom prst="roundRect">
            <a:avLst>
              <a:gd name="adj" fmla="val 7823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457200" y="3074491"/>
            <a:ext cx="4043363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496991" y="3067348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4768453"/>
            <a:ext cx="4043363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60772" y="3067348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0081" y="3274516"/>
            <a:ext cx="2753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922213" y="3253085"/>
            <a:ext cx="338546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8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VULNERABILITY WATCH</a:t>
            </a:r>
            <a:endParaRPr lang="en-US" sz="1069" dirty="0"/>
          </a:p>
        </p:txBody>
      </p:sp>
      <p:sp>
        <p:nvSpPr>
          <p:cNvPr id="39" name="Text 35"/>
          <p:cNvSpPr/>
          <p:nvPr/>
        </p:nvSpPr>
        <p:spPr>
          <a:xfrm>
            <a:off x="650081" y="3556695"/>
            <a:ext cx="365760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650081" y="3663851"/>
            <a:ext cx="3657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CVE appears in a story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KEV cross-check shows exploit status + recency tone.</a:t>
            </a:r>
            <a:endParaRPr lang="en-US" sz="844" dirty="0"/>
          </a:p>
        </p:txBody>
      </p:sp>
      <p:sp>
        <p:nvSpPr>
          <p:cNvPr id="41" name="Text 37"/>
          <p:cNvSpPr/>
          <p:nvPr/>
        </p:nvSpPr>
        <p:spPr>
          <a:xfrm>
            <a:off x="653653" y="4319178"/>
            <a:ext cx="3650456" cy="270681"/>
          </a:xfrm>
          <a:prstGeom prst="roundRect">
            <a:avLst>
              <a:gd name="adj" fmla="val 28151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757238" y="4398206"/>
            <a:ext cx="552369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1207740" y="4387044"/>
            <a:ext cx="2999929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patch priorities that reflect reality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643438" y="3067348"/>
            <a:ext cx="4043363" cy="1704677"/>
          </a:xfrm>
          <a:prstGeom prst="roundRect">
            <a:avLst>
              <a:gd name="adj" fmla="val 7823"/>
            </a:avLst>
          </a:prstGeom>
          <a:solidFill>
            <a:srgbClr val="0D16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1"/>
          <p:cNvSpPr/>
          <p:nvPr/>
        </p:nvSpPr>
        <p:spPr>
          <a:xfrm>
            <a:off x="4643438" y="3074491"/>
            <a:ext cx="4043363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683228" y="3067348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643438" y="4768453"/>
            <a:ext cx="4043363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647009" y="3067348"/>
            <a:ext cx="0" cy="1704677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836319" y="3274516"/>
            <a:ext cx="275392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25" dirty="0"/>
          </a:p>
        </p:txBody>
      </p:sp>
      <p:sp>
        <p:nvSpPr>
          <p:cNvPr id="50" name="Text 46"/>
          <p:cNvSpPr/>
          <p:nvPr/>
        </p:nvSpPr>
        <p:spPr>
          <a:xfrm>
            <a:off x="5108451" y="3253085"/>
            <a:ext cx="3385468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86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AWARENESS</a:t>
            </a:r>
            <a:endParaRPr lang="en-US" sz="1069" dirty="0"/>
          </a:p>
        </p:txBody>
      </p:sp>
      <p:sp>
        <p:nvSpPr>
          <p:cNvPr id="51" name="Text 47"/>
          <p:cNvSpPr/>
          <p:nvPr/>
        </p:nvSpPr>
        <p:spPr>
          <a:xfrm>
            <a:off x="4836319" y="3556695"/>
            <a:ext cx="365760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836319" y="3663851"/>
            <a:ext cx="36576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Put the wall on the ops-room display 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globe, ticker and severity tones keep everyone oriented.</a:t>
            </a:r>
            <a:endParaRPr lang="en-US" sz="844" dirty="0"/>
          </a:p>
        </p:txBody>
      </p:sp>
      <p:sp>
        <p:nvSpPr>
          <p:cNvPr id="53" name="Text 49"/>
          <p:cNvSpPr/>
          <p:nvPr/>
        </p:nvSpPr>
        <p:spPr>
          <a:xfrm>
            <a:off x="4839891" y="4319178"/>
            <a:ext cx="3650456" cy="270681"/>
          </a:xfrm>
          <a:prstGeom prst="roundRect">
            <a:avLst>
              <a:gd name="adj" fmla="val 28151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943475" y="4398206"/>
            <a:ext cx="552369" cy="1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4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55" name="Text 51"/>
          <p:cNvSpPr/>
          <p:nvPr/>
        </p:nvSpPr>
        <p:spPr>
          <a:xfrm>
            <a:off x="5393978" y="4387044"/>
            <a:ext cx="2999929" cy="1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0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shared picture of the threat landscape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653" y="-1714500"/>
            <a:ext cx="4286250" cy="428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653" y="-1714500"/>
            <a:ext cx="4286250" cy="4286250"/>
          </a:xfrm>
          <a:prstGeom prst="ellipse">
            <a:avLst/>
          </a:prstGeom>
          <a:solidFill>
            <a:srgbClr val="2DD4B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71475"/>
            <a:ext cx="82565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 YOUR 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569714"/>
            <a:ext cx="6524577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Free-tier friendly by design, </a:t>
            </a:r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by accident</a:t>
            </a:r>
            <a:pPr algn="l" indent="0" marL="0">
              <a:lnSpc>
                <a:spcPts val="2475"/>
              </a:lnSpc>
              <a:buNone/>
            </a:pPr>
            <a:r>
              <a:rPr lang="en-US" sz="2250" b="1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388633" y="884039"/>
            <a:ext cx="2755367" cy="402336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49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SERVERLESS // DOCKER // SELF-HOST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5527"/>
            <a:ext cx="8229600" cy="71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591270"/>
            <a:ext cx="1691640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60s</a:t>
            </a:r>
            <a:endParaRPr lang="en-US" sz="3263" dirty="0"/>
          </a:p>
        </p:txBody>
      </p:sp>
      <p:sp>
        <p:nvSpPr>
          <p:cNvPr id="9" name="Text 5"/>
          <p:cNvSpPr/>
          <p:nvPr/>
        </p:nvSpPr>
        <p:spPr>
          <a:xfrm>
            <a:off x="1671638" y="1637928"/>
            <a:ext cx="1857375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 ceilings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baked into every route — survives Vercel Hobby limits</a:t>
            </a:r>
            <a:endParaRPr lang="en-US" sz="816" dirty="0"/>
          </a:p>
        </p:txBody>
      </p:sp>
      <p:sp>
        <p:nvSpPr>
          <p:cNvPr id="10" name="Text 6"/>
          <p:cNvSpPr/>
          <p:nvPr/>
        </p:nvSpPr>
        <p:spPr>
          <a:xfrm>
            <a:off x="457200" y="2389584"/>
            <a:ext cx="3071813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" y="2780705"/>
            <a:ext cx="1691640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3263" dirty="0"/>
          </a:p>
        </p:txBody>
      </p:sp>
      <p:sp>
        <p:nvSpPr>
          <p:cNvPr id="12" name="Text 8"/>
          <p:cNvSpPr/>
          <p:nvPr/>
        </p:nvSpPr>
        <p:spPr>
          <a:xfrm>
            <a:off x="1671638" y="2827362"/>
            <a:ext cx="1857375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paid dependencies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public RSS, converter relay and mirror fallbacks only</a:t>
            </a:r>
            <a:endParaRPr lang="en-US" sz="816" dirty="0"/>
          </a:p>
        </p:txBody>
      </p:sp>
      <p:sp>
        <p:nvSpPr>
          <p:cNvPr id="13" name="Text 9"/>
          <p:cNvSpPr/>
          <p:nvPr/>
        </p:nvSpPr>
        <p:spPr>
          <a:xfrm>
            <a:off x="457200" y="3579019"/>
            <a:ext cx="3071813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200" y="3970139"/>
            <a:ext cx="1691640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b="1" dirty="0">
                <a:solidFill>
                  <a:srgbClr val="2DD4B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3263" dirty="0"/>
          </a:p>
        </p:txBody>
      </p:sp>
      <p:sp>
        <p:nvSpPr>
          <p:cNvPr id="15" name="Text 11"/>
          <p:cNvSpPr/>
          <p:nvPr/>
        </p:nvSpPr>
        <p:spPr>
          <a:xfrm>
            <a:off x="1671638" y="4016797"/>
            <a:ext cx="1857375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file SQLite database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copy the folder, move the deployment</a:t>
            </a:r>
            <a:endParaRPr lang="en-US" sz="816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13" y="1548408"/>
            <a:ext cx="4929188" cy="28789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61184" y="1551980"/>
            <a:ext cx="4922044" cy="2871788"/>
          </a:xfrm>
          <a:prstGeom prst="roundRect">
            <a:avLst>
              <a:gd name="adj" fmla="val 4643"/>
            </a:avLst>
          </a:prstGeom>
          <a:noFill/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964781" y="1727002"/>
            <a:ext cx="45148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73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PATHS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941921" y="2066169"/>
            <a:ext cx="960120" cy="228029"/>
          </a:xfrm>
          <a:prstGeom prst="roundRect">
            <a:avLst>
              <a:gd name="adj" fmla="val 2506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3964781" y="2078385"/>
            <a:ext cx="91440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993481" y="2102495"/>
            <a:ext cx="34861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push, import, deploy; time limits pre-configured in the route files</a:t>
            </a:r>
            <a:endParaRPr lang="en-US" sz="816" dirty="0"/>
          </a:p>
        </p:txBody>
      </p:sp>
      <p:sp>
        <p:nvSpPr>
          <p:cNvPr id="22" name="Text 17"/>
          <p:cNvSpPr/>
          <p:nvPr/>
        </p:nvSpPr>
        <p:spPr>
          <a:xfrm>
            <a:off x="3964781" y="2472630"/>
            <a:ext cx="451485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3941921" y="2658207"/>
            <a:ext cx="960120" cy="228029"/>
          </a:xfrm>
          <a:prstGeom prst="roundRect">
            <a:avLst>
              <a:gd name="adj" fmla="val 2506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3964781" y="2670423"/>
            <a:ext cx="91440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993481" y="2694533"/>
            <a:ext cx="34861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single Dockerfile, .dockerignore included</a:t>
            </a:r>
            <a:endParaRPr lang="en-US" sz="816" dirty="0"/>
          </a:p>
        </p:txBody>
      </p:sp>
      <p:sp>
        <p:nvSpPr>
          <p:cNvPr id="26" name="Text 21"/>
          <p:cNvSpPr/>
          <p:nvPr/>
        </p:nvSpPr>
        <p:spPr>
          <a:xfrm>
            <a:off x="3964781" y="3064669"/>
            <a:ext cx="451485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941921" y="3250246"/>
            <a:ext cx="960120" cy="228029"/>
          </a:xfrm>
          <a:prstGeom prst="roundRect">
            <a:avLst>
              <a:gd name="adj" fmla="val 25063"/>
            </a:avLst>
          </a:prstGeom>
          <a:solidFill>
            <a:srgbClr val="2DD4BF">
              <a:alpha val="12000"/>
            </a:srgbClr>
          </a:solidFill>
          <a:ln w="7144">
            <a:solidFill>
              <a:srgbClr val="2DD4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964781" y="3262461"/>
            <a:ext cx="91440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SELF-HOST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993481" y="3286571"/>
            <a:ext cx="348615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any Node/Bun runtime; portable .env with a relative database path</a:t>
            </a:r>
            <a:endParaRPr lang="en-US" sz="816" dirty="0"/>
          </a:p>
        </p:txBody>
      </p:sp>
      <p:sp>
        <p:nvSpPr>
          <p:cNvPr id="30" name="Text 25"/>
          <p:cNvSpPr/>
          <p:nvPr/>
        </p:nvSpPr>
        <p:spPr>
          <a:xfrm>
            <a:off x="3964781" y="3656707"/>
            <a:ext cx="4514850" cy="7144"/>
          </a:xfrm>
          <a:prstGeom prst="rect">
            <a:avLst/>
          </a:prstGeom>
          <a:solidFill>
            <a:srgbClr val="8FA8A3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941921" y="3842284"/>
            <a:ext cx="1019279" cy="228029"/>
          </a:xfrm>
          <a:prstGeom prst="roundRect">
            <a:avLst>
              <a:gd name="adj" fmla="val 25063"/>
            </a:avLst>
          </a:prstGeom>
          <a:solidFill>
            <a:srgbClr val="F59E0B">
              <a:alpha val="12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964781" y="3854500"/>
            <a:ext cx="97355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OWNERSHIP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5052640" y="3878610"/>
            <a:ext cx="3426991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self-host and your reading history stays yours.</a:t>
            </a:r>
            <a:endParaRPr lang="en-US" sz="816" dirty="0"/>
          </a:p>
        </p:txBody>
      </p:sp>
      <p:sp>
        <p:nvSpPr>
          <p:cNvPr id="34" name="Shape 29"/>
          <p:cNvSpPr/>
          <p:nvPr/>
        </p:nvSpPr>
        <p:spPr>
          <a:xfrm>
            <a:off x="457200" y="4602361"/>
            <a:ext cx="8229600" cy="0"/>
          </a:xfrm>
          <a:prstGeom prst="line">
            <a:avLst/>
          </a:prstGeom>
          <a:noFill/>
          <a:ln w="7144">
            <a:solidFill>
              <a:srgbClr val="8FA8A3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57200" y="471041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DD4B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6" name="Text 31"/>
          <p:cNvSpPr/>
          <p:nvPr/>
        </p:nvSpPr>
        <p:spPr>
          <a:xfrm>
            <a:off x="657225" y="4705945"/>
            <a:ext cx="802957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91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VERCEL.JSON NEEDED — DURATIONS LIVE IN THE ROUTES </a:t>
            </a:r>
            <a:pPr algn="l" indent="0" marL="0">
              <a:lnSpc>
                <a:spcPts val="970"/>
              </a:lnSpc>
              <a:buNone/>
            </a:pPr>
            <a:r>
              <a:rPr lang="en-US" sz="800" spc="91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ts val="970"/>
              </a:lnSpc>
              <a:buNone/>
            </a:pPr>
            <a:r>
              <a:rPr lang="en-US" sz="800" spc="91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POSTINSTALL RUNS PRISMA GENERATE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0188" y="450056"/>
            <a:ext cx="6143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0188" y="450056"/>
            <a:ext cx="6143625" cy="3857625"/>
          </a:xfrm>
          <a:prstGeom prst="rect">
            <a:avLst/>
          </a:prstGeom>
          <a:solidFill>
            <a:srgbClr val="2DD4B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200025" y="207169"/>
            <a:ext cx="185738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7169" y="200025"/>
            <a:ext cx="0" cy="185738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58238" y="207169"/>
            <a:ext cx="185738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36831" y="200025"/>
            <a:ext cx="0" cy="185738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0025" y="4936331"/>
            <a:ext cx="185738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7169" y="4757738"/>
            <a:ext cx="0" cy="185738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936831" y="4757738"/>
            <a:ext cx="0" cy="185738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58238" y="4936331"/>
            <a:ext cx="185738" cy="0"/>
          </a:xfrm>
          <a:prstGeom prst="line">
            <a:avLst/>
          </a:prstGeom>
          <a:noFill/>
          <a:ln w="14288">
            <a:solidFill>
              <a:srgbClr val="2DD4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20120" y="1010506"/>
            <a:ext cx="257175" cy="7144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066705" y="1010506"/>
            <a:ext cx="257175" cy="7144"/>
          </a:xfrm>
          <a:prstGeom prst="rect">
            <a:avLst/>
          </a:prstGeom>
          <a:solidFill>
            <a:srgbClr val="2DD4B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466737" y="957821"/>
            <a:ext cx="22105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89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CYBERSHIELD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4320" y="1270360"/>
            <a:ext cx="8595360" cy="126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07"/>
              </a:lnSpc>
              <a:buNone/>
            </a:pPr>
            <a:r>
              <a:rPr lang="en-US" sz="4388" b="1" spc="-44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Stay ahead of the </a:t>
            </a:r>
            <a:pPr algn="ctr" indent="0" marL="0">
              <a:lnSpc>
                <a:spcPts val="4607"/>
              </a:lnSpc>
              <a:buNone/>
            </a:pPr>
            <a:r>
              <a:rPr lang="en-US" sz="4388" b="1" spc="-44" kern="0" dirty="0">
                <a:solidFill>
                  <a:srgbClr val="2DD4B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threat</a:t>
            </a:r>
            <a:pPr algn="ctr" indent="0" marL="0">
              <a:lnSpc>
                <a:spcPts val="4607"/>
              </a:lnSpc>
              <a:buNone/>
            </a:pPr>
            <a:r>
              <a:rPr lang="en-US" sz="4388" b="1" spc="-44" kern="0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4388" dirty="0"/>
          </a:p>
        </p:txBody>
      </p:sp>
      <p:sp>
        <p:nvSpPr>
          <p:cNvPr id="16" name="Text 13"/>
          <p:cNvSpPr/>
          <p:nvPr/>
        </p:nvSpPr>
        <p:spPr>
          <a:xfrm>
            <a:off x="1873560" y="2611822"/>
            <a:ext cx="5396768" cy="222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8FA8A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Aggregated intelligence, machine-speed scoring, plain-language verdicts — </a:t>
            </a:r>
            <a:pPr algn="ctr" indent="0" marL="0">
              <a:lnSpc>
                <a:spcPts val="1620"/>
              </a:lnSpc>
              <a:buNone/>
            </a:pPr>
            <a:r>
              <a:rPr lang="en-US" sz="1013" dirty="0">
                <a:solidFill>
                  <a:srgbClr val="E6F1E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a wall you own.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1758479" y="3104776"/>
            <a:ext cx="868970" cy="277420"/>
          </a:xfrm>
          <a:prstGeom prst="roundRect">
            <a:avLst>
              <a:gd name="adj" fmla="val 3429989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758479" y="3117577"/>
            <a:ext cx="86897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8FA8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SOURCES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713174" y="3104776"/>
            <a:ext cx="931590" cy="277420"/>
          </a:xfrm>
          <a:prstGeom prst="roundRect">
            <a:avLst>
              <a:gd name="adj" fmla="val 3429989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713174" y="3117577"/>
            <a:ext cx="93159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VERDICTS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730489" y="3104776"/>
            <a:ext cx="1182067" cy="277420"/>
          </a:xfrm>
          <a:prstGeom prst="roundRect">
            <a:avLst>
              <a:gd name="adj" fmla="val 3429989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0489" y="3117577"/>
            <a:ext cx="118206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KEV CROSS-CHECK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98281" y="3104776"/>
            <a:ext cx="1182067" cy="277420"/>
          </a:xfrm>
          <a:prstGeom prst="roundRect">
            <a:avLst>
              <a:gd name="adj" fmla="val 3429989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98281" y="3117577"/>
            <a:ext cx="118206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8FA8A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3D THREAT GLOBE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66073" y="3104776"/>
            <a:ext cx="1119448" cy="277420"/>
          </a:xfrm>
          <a:prstGeom prst="roundRect">
            <a:avLst>
              <a:gd name="adj" fmla="val 3429989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266073" y="3117577"/>
            <a:ext cx="111944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 GREETING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958106" y="3442318"/>
            <a:ext cx="1227787" cy="277420"/>
          </a:xfrm>
          <a:prstGeom prst="roundRect">
            <a:avLst>
              <a:gd name="adj" fmla="val 3429989"/>
            </a:avLst>
          </a:prstGeom>
          <a:solidFill>
            <a:srgbClr val="0D1620"/>
          </a:solidFill>
          <a:ln w="7144">
            <a:solidFill>
              <a:srgbClr val="8FA8A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80966" y="3455119"/>
            <a:ext cx="1182067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FREE-HOST READY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946225" y="4035549"/>
            <a:ext cx="52515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 the package </a:t>
            </a:r>
            <a:pPr algn="ct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ct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deploy to your platform </a:t>
            </a:r>
            <a:pPr algn="ct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ctr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E6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informed in under five minutes.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0" y="4773811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77" kern="0" dirty="0">
                <a:solidFill>
                  <a:srgbClr val="8FA8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CYBERSHIELD // REAL-TIME CYBER THREAT INTELLIGENCE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2026-10-10T11:29:30Z</dcterms:created>
  <dcterms:modified xsi:type="dcterms:W3CDTF">2026-10-10T11:29:30Z</dcterms:modified>
</cp:coreProperties>
</file>